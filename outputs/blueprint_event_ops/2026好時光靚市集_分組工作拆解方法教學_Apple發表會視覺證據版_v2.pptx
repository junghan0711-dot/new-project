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43881e29b74f7d" /><Relationship Type="http://schemas.openxmlformats.org/officeDocument/2006/relationships/extended-properties" Target="/docProps/app.xml" Id="Re1a56417866d4a0f" /><Relationship Type="http://schemas.openxmlformats.org/officeDocument/2006/relationships/officeDocument" Target="/ppt/presentation.xml" Id="R960e8d84a01842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c753bbc1644528"/>
  </p:sldMasterIdLst>
  <p:notesMasterIdLst>
    <p:notesMasterId xmlns:r="http://schemas.openxmlformats.org/officeDocument/2006/relationships" r:id="Reb89578411a944b6"/>
  </p:notesMasterIdLst>
  <p:sldIdLst>
    <p:sldId xmlns:r="http://schemas.openxmlformats.org/officeDocument/2006/relationships" id="256" r:id="R6fa701155d1f4258"/>
    <p:sldId xmlns:r="http://schemas.openxmlformats.org/officeDocument/2006/relationships" id="257" r:id="R4dd1e30c9e22463d"/>
    <p:sldId xmlns:r="http://schemas.openxmlformats.org/officeDocument/2006/relationships" id="258" r:id="R4812fb3f1e4f4540"/>
    <p:sldId xmlns:r="http://schemas.openxmlformats.org/officeDocument/2006/relationships" id="259" r:id="Rd5f3ea0767f94c65"/>
    <p:sldId xmlns:r="http://schemas.openxmlformats.org/officeDocument/2006/relationships" id="260" r:id="R39ad4e04e1d944d0"/>
    <p:sldId xmlns:r="http://schemas.openxmlformats.org/officeDocument/2006/relationships" id="261" r:id="Rcaecb1f11b0a4552"/>
    <p:sldId xmlns:r="http://schemas.openxmlformats.org/officeDocument/2006/relationships" id="262" r:id="R91d61ab7a4874a88"/>
    <p:sldId xmlns:r="http://schemas.openxmlformats.org/officeDocument/2006/relationships" id="263" r:id="R109a7d131ea5416a"/>
    <p:sldId xmlns:r="http://schemas.openxmlformats.org/officeDocument/2006/relationships" id="264" r:id="R8aa5957008c44e14"/>
    <p:sldId xmlns:r="http://schemas.openxmlformats.org/officeDocument/2006/relationships" id="265" r:id="Ra64ead7227c24826"/>
    <p:sldId xmlns:r="http://schemas.openxmlformats.org/officeDocument/2006/relationships" id="266" r:id="R2819dec5d4924988"/>
    <p:sldId xmlns:r="http://schemas.openxmlformats.org/officeDocument/2006/relationships" id="267" r:id="Rb413716db790480f"/>
    <p:sldId xmlns:r="http://schemas.openxmlformats.org/officeDocument/2006/relationships" id="268" r:id="R551ee538743c4e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dd1887b0b4a85" /><Relationship Type="http://schemas.openxmlformats.org/officeDocument/2006/relationships/slideMaster" Target="/ppt/slideMasters/slideMaster1.xml" Id="R02c753bbc1644528" /><Relationship Type="http://schemas.openxmlformats.org/officeDocument/2006/relationships/notesMaster" Target="/ppt/notesMasters/notesMaster1.xml" Id="Reb89578411a944b6" /><Relationship Type="http://schemas.openxmlformats.org/officeDocument/2006/relationships/presProps" Target="/ppt/presProps.xml" Id="R005cde4722bc487c" /><Relationship Type="http://schemas.openxmlformats.org/officeDocument/2006/relationships/tableStyles" Target="/ppt/tableStyles.xml" Id="R2b9ca6acb7264ea6" /><Relationship Type="http://schemas.openxmlformats.org/officeDocument/2006/relationships/slide" Target="/ppt/slides/slide1.xml" Id="R6fa701155d1f4258" /><Relationship Type="http://schemas.openxmlformats.org/officeDocument/2006/relationships/slide" Target="/ppt/slides/slide2.xml" Id="R4dd1e30c9e22463d" /><Relationship Type="http://schemas.openxmlformats.org/officeDocument/2006/relationships/slide" Target="/ppt/slides/slide3.xml" Id="R4812fb3f1e4f4540" /><Relationship Type="http://schemas.openxmlformats.org/officeDocument/2006/relationships/slide" Target="/ppt/slides/slide4.xml" Id="Rd5f3ea0767f94c65" /><Relationship Type="http://schemas.openxmlformats.org/officeDocument/2006/relationships/slide" Target="/ppt/slides/slide5.xml" Id="R39ad4e04e1d944d0" /><Relationship Type="http://schemas.openxmlformats.org/officeDocument/2006/relationships/slide" Target="/ppt/slides/slide6.xml" Id="Rcaecb1f11b0a4552" /><Relationship Type="http://schemas.openxmlformats.org/officeDocument/2006/relationships/slide" Target="/ppt/slides/slide7.xml" Id="R91d61ab7a4874a88" /><Relationship Type="http://schemas.openxmlformats.org/officeDocument/2006/relationships/slide" Target="/ppt/slides/slide8.xml" Id="R109a7d131ea5416a" /><Relationship Type="http://schemas.openxmlformats.org/officeDocument/2006/relationships/slide" Target="/ppt/slides/slide9.xml" Id="R8aa5957008c44e14" /><Relationship Type="http://schemas.openxmlformats.org/officeDocument/2006/relationships/slide" Target="/ppt/slides/slide10.xml" Id="Ra64ead7227c24826" /><Relationship Type="http://schemas.openxmlformats.org/officeDocument/2006/relationships/slide" Target="/ppt/slides/slide11.xml" Id="R2819dec5d4924988" /><Relationship Type="http://schemas.openxmlformats.org/officeDocument/2006/relationships/slide" Target="/ppt/slides/slide12.xml" Id="Rb413716db790480f" /><Relationship Type="http://schemas.openxmlformats.org/officeDocument/2006/relationships/slide" Target="/ppt/slides/slide13.xml" Id="R551ee538743c4e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985acba0bf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e5eb7c0f8f4dee" /><Relationship Type="http://schemas.openxmlformats.org/officeDocument/2006/relationships/notesMaster" Target="/ppt/notesMasters/notesMaster1.xml" Id="R763930481c6e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f9a6df0e7b4c01" /><Relationship Type="http://schemas.openxmlformats.org/officeDocument/2006/relationships/notesMaster" Target="/ppt/notesMasters/notesMaster1.xml" Id="R32fb461684e642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e28ae0b744179" /><Relationship Type="http://schemas.openxmlformats.org/officeDocument/2006/relationships/notesMaster" Target="/ppt/notesMasters/notesMaster1.xml" Id="R6e003fe873d84e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704a84d074f89" /><Relationship Type="http://schemas.openxmlformats.org/officeDocument/2006/relationships/notesMaster" Target="/ppt/notesMasters/notesMaster1.xml" Id="Rd36e69ddea5b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3c376c5344125" /><Relationship Type="http://schemas.openxmlformats.org/officeDocument/2006/relationships/notesMaster" Target="/ppt/notesMasters/notesMaster1.xml" Id="R2e5c3db93da8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a7f11e94b84892" /><Relationship Type="http://schemas.openxmlformats.org/officeDocument/2006/relationships/notesMaster" Target="/ppt/notesMasters/notesMaster1.xml" Id="R0ffe43b484a146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9f9caa1db45ad" /><Relationship Type="http://schemas.openxmlformats.org/officeDocument/2006/relationships/notesMaster" Target="/ppt/notesMasters/notesMaster1.xml" Id="R0895da4c35874d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6fc5cce8f4e0e" /><Relationship Type="http://schemas.openxmlformats.org/officeDocument/2006/relationships/notesMaster" Target="/ppt/notesMasters/notesMaster1.xml" Id="R859cf7cdb40848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cd8d5f20044901" /><Relationship Type="http://schemas.openxmlformats.org/officeDocument/2006/relationships/notesMaster" Target="/ppt/notesMasters/notesMaster1.xml" Id="Rd339760964c149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0c003457b7461e" /><Relationship Type="http://schemas.openxmlformats.org/officeDocument/2006/relationships/notesMaster" Target="/ppt/notesMasters/notesMaster1.xml" Id="Rb630de18fef345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f832e9618b4b4d" /><Relationship Type="http://schemas.openxmlformats.org/officeDocument/2006/relationships/notesMaster" Target="/ppt/notesMasters/notesMaster1.xml" Id="R0bdb8a97ac5a42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2cfed7d6de4113" /><Relationship Type="http://schemas.openxmlformats.org/officeDocument/2006/relationships/notesMaster" Target="/ppt/notesMasters/notesMaster1.xml" Id="Re467aa0bb78c42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673c3cae4f45e7" /><Relationship Type="http://schemas.openxmlformats.org/officeDocument/2006/relationships/notesMaster" Target="/ppt/notesMasters/notesMaster1.xml" Id="Rfafba79958de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b4a96d98c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1373e7a4e468b" /><Relationship Type="http://schemas.openxmlformats.org/officeDocument/2006/relationships/slideLayout" Target="/ppt/slideLayouts/slideLayout1.xml" Id="R750ea8756d8e46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ea8756d8e46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2261650b2463d" /><Relationship Type="http://schemas.openxmlformats.org/officeDocument/2006/relationships/notesSlide" Target="/ppt/notesSlides/notesSlide1.xml" Id="R070381a8bbae41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50e0330034ec2" /><Relationship Type="http://schemas.openxmlformats.org/officeDocument/2006/relationships/notesSlide" Target="/ppt/notesSlides/notesSlide2.xml" Id="Ra2d3c9f8ac2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f4d76cec4782" /><Relationship Type="http://schemas.openxmlformats.org/officeDocument/2006/relationships/notesSlide" Target="/ppt/notesSlides/notesSlide3.xml" Id="R845c38841d2e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6540f80944f89" /><Relationship Type="http://schemas.openxmlformats.org/officeDocument/2006/relationships/notesSlide" Target="/ppt/notesSlides/notesSlide4.xml" Id="Rc49738913cf3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0f1a553e484a" /><Relationship Type="http://schemas.openxmlformats.org/officeDocument/2006/relationships/notesSlide" Target="/ppt/notesSlides/notesSlide5.xml" Id="Rde3a2d32f0e0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e5357bea54bcd" /><Relationship Type="http://schemas.openxmlformats.org/officeDocument/2006/relationships/notesSlide" Target="/ppt/notesSlides/notesSlide6.xml" Id="Rf02783ddd44d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10b64c67417a" /><Relationship Type="http://schemas.openxmlformats.org/officeDocument/2006/relationships/notesSlide" Target="/ppt/notesSlides/notesSlide7.xml" Id="Rff0bba1de48a4b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0bd47fe304de1" /><Relationship Type="http://schemas.openxmlformats.org/officeDocument/2006/relationships/notesSlide" Target="/ppt/notesSlides/notesSlide8.xml" Id="Ra58e5f0b7272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72ecf10984491" /><Relationship Type="http://schemas.openxmlformats.org/officeDocument/2006/relationships/notesSlide" Target="/ppt/notesSlides/notesSlide9.xml" Id="R0b50e9ada481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cc9043f4644c2" /><Relationship Type="http://schemas.openxmlformats.org/officeDocument/2006/relationships/notesSlide" Target="/ppt/notesSlides/notesSlide10.xml" Id="Rb41f0f4533ad4c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becf6d844395" /><Relationship Type="http://schemas.openxmlformats.org/officeDocument/2006/relationships/notesSlide" Target="/ppt/notesSlides/notesSlide11.xml" Id="R12d1dab44cfb45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ff978c0654b00" /><Relationship Type="http://schemas.openxmlformats.org/officeDocument/2006/relationships/notesSlide" Target="/ppt/notesSlides/notesSlide12.xml" Id="Rfaf002ecb7b547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d5669ea16448d" /><Relationship Type="http://schemas.openxmlformats.org/officeDocument/2006/relationships/notesSlide" Target="/ppt/notesSlides/notesSlide13.xml" Id="R92dee82a7acb4c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59055-9961-4CE8-9575-4EDB804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857250"/>
            <a:ext cx="5905500" cy="5905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7CDAB-AD79-4715-B85B-B6740F8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B4A7B-1943-4D27-BDCB-F31B553E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工作不是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想得更多。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0CE70-2462-402B-8A22-39422BE8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4D2FF"/>
                </a:solidFill>
              </a:defRPr>
            </a:pPr>
            <a:r>
              <a:rPr sz="3600" b="1">
                <a:solidFill>
                  <a:srgbClr val="64D2FF"/>
                </a:solidFill>
              </a:rPr>
              <a:t>是讓別人接得下去。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403A5-69B8-4BD2-A50C-84D4A9B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1A1A6"/>
                </a:solidFill>
              </a:defRPr>
            </a:pPr>
            <a:r>
              <a:rPr sz="1275" b="0">
                <a:solidFill>
                  <a:srgbClr val="A1A1A6"/>
                </a:solidFill>
              </a:rPr>
              <a:t>2026 好時光・靚市集｜分組工作拆解方法</a:t>
            </a:r>
          </a:p>
        </p:txBody>
      </p:sp>
    </p:spTree>
    <p:extLst>
      <p:ext uri="{BB962C8B-B14F-4D97-AF65-F5344CB8AC3E}">
        <p14:creationId xmlns:p14="http://schemas.microsoft.com/office/powerpoint/2010/main" val="1048737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B39A6-5E0F-42E4-A57E-0749B21C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AC5B-5B89-4E28-8102-352EFBE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我們真正卡住的地方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D1773-824F-412B-AA2F-808A548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D1D1F"/>
                </a:solidFill>
              </a:defRPr>
            </a:pPr>
            <a:r>
              <a:rPr sz="4800" b="1">
                <a:solidFill>
                  <a:srgbClr val="1D1D1F"/>
                </a:solidFill>
              </a:rPr>
              <a:t>「舞台組」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B1E09-E5A3-430A-84C9-2A97C178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E6E73"/>
                </a:solidFill>
              </a:defRPr>
            </a:pPr>
            <a:r>
              <a:rPr sz="2400" b="0">
                <a:solidFill>
                  <a:srgbClr val="6E6E73"/>
                </a:solidFill>
              </a:rPr>
              <a:t>聽起來像分工。</a:t>
            </a:r>
          </a:p>
          <a:p xmlns:a="http://schemas.openxmlformats.org/drawingml/2006/main">
            <a:pPr algn="l">
              <a:defRPr sz="2400" b="0">
                <a:solidFill>
                  <a:srgbClr val="6E6E73"/>
                </a:solidFill>
              </a:defRPr>
            </a:pPr>
            <a:r>
              <a:rPr sz="2400" b="0">
                <a:solidFill>
                  <a:srgbClr val="6E6E73"/>
                </a:solidFill>
              </a:rPr>
              <a:t>其實還沒有人知道下一步。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DA157-7864-4D67-9AD6-A3B71575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95375"/>
            <a:ext cx="3714750" cy="442912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76CBE-E71B-4550-A67D-E1D0DEC3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0" b="1">
                <a:solidFill>
                  <a:srgbClr val="0071E3"/>
                </a:solidFill>
              </a:defRPr>
            </a:pPr>
            <a:r>
              <a:rPr sz="12000" b="1">
                <a:solidFill>
                  <a:srgbClr val="0071E3"/>
                </a:solidFill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3FD36-50E9-460B-A956-5C21052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</a:defRPr>
            </a:pPr>
            <a:r>
              <a:rPr sz="1875" b="1">
                <a:solidFill>
                  <a:srgbClr val="1D1D1F"/>
                </a:solidFill>
              </a:rPr>
              <a:t>沒有交付物</a:t>
            </a:r>
          </a:p>
          <a:p xmlns:a="http://schemas.openxmlformats.org/drawingml/2006/main">
            <a:pPr algn="ctr">
              <a:defRPr sz="1875" b="1">
                <a:solidFill>
                  <a:srgbClr val="1D1D1F"/>
                </a:solidFill>
              </a:defRPr>
            </a:pPr>
            <a:r>
              <a:rPr sz="1875" b="1">
                <a:solidFill>
                  <a:srgbClr val="1D1D1F"/>
                </a:solidFill>
              </a:rPr>
              <a:t>沒有審核點</a:t>
            </a:r>
          </a:p>
          <a:p xmlns:a="http://schemas.openxmlformats.org/drawingml/2006/main">
            <a:pPr algn="ctr">
              <a:defRPr sz="1875" b="1">
                <a:solidFill>
                  <a:srgbClr val="1D1D1F"/>
                </a:solidFill>
              </a:defRPr>
            </a:pPr>
            <a:r>
              <a:rPr sz="1875" b="1">
                <a:solidFill>
                  <a:srgbClr val="1D1D1F"/>
                </a:solidFill>
              </a:rPr>
              <a:t>沒有最晚日期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FCC42-B2BB-4247-8D21-D9B9EFA9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02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59643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55C51-2BE4-4169-A80D-5FE9F7A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五種方法。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E176B-FEAA-496D-B1B0-52FC499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6"/>
                </a:solidFill>
              </a:defRPr>
            </a:pPr>
            <a:r>
              <a:rPr sz="1875" b="0">
                <a:solidFill>
                  <a:srgbClr val="A1A1A6"/>
                </a:solidFill>
              </a:rPr>
              <a:t>把模糊，變成可以交辦。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B08AE-AD30-4B54-8FF3-C92F833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E9AE4-7525-47F1-B7E1-330C6DA4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289C-5505-46FC-A835-0AC8BAFA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D2FF"/>
                </a:solidFill>
              </a:defRPr>
            </a:pPr>
            <a:r>
              <a:rPr sz="1050" b="1">
                <a:solidFill>
                  <a:srgbClr val="64D2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74ADC-C371-4CA0-8268-02EDAB9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24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KJ 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D7114-5906-4DBA-A158-28158FA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8E93"/>
                </a:solidFill>
              </a:defRPr>
            </a:pPr>
            <a:r>
              <a:rPr sz="1125" b="0">
                <a:solidFill>
                  <a:srgbClr val="8E8E93"/>
                </a:solidFill>
              </a:rPr>
              <a:t>先發散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DA147-3F6C-485D-9B51-09B57F7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D2FF"/>
                </a:solidFill>
              </a:defRPr>
            </a:pPr>
            <a:r>
              <a:rPr sz="1050" b="1">
                <a:solidFill>
                  <a:srgbClr val="64D2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F0A43-FF89-410B-8B56-FAA62A0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86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情境走讀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9A231-13CB-45D4-A2F4-A80931F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574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8E93"/>
                </a:solidFill>
              </a:defRPr>
            </a:pPr>
            <a:r>
              <a:rPr sz="1125" b="0">
                <a:solidFill>
                  <a:srgbClr val="8E8E93"/>
                </a:solidFill>
              </a:rPr>
              <a:t>沿著人的路線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8D1CA-4754-4D75-AD94-CB21552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D2FF"/>
                </a:solidFill>
              </a:defRPr>
            </a:pPr>
            <a:r>
              <a:rPr sz="1050" b="1">
                <a:solidFill>
                  <a:srgbClr val="64D2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1C2B6-1675-4143-920B-B6465B15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倒推法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3A37E-308A-4E2C-A39A-26CE425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86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8E93"/>
                </a:solidFill>
              </a:defRPr>
            </a:pPr>
            <a:r>
              <a:rPr sz="1125" b="0">
                <a:solidFill>
                  <a:srgbClr val="8E8E93"/>
                </a:solidFill>
              </a:rPr>
              <a:t>從結果回看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A3068-61F6-4887-9DC2-A9C42BB1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D2FF"/>
                </a:solidFill>
              </a:defRPr>
            </a:pPr>
            <a:r>
              <a:rPr sz="1050" b="1">
                <a:solidFill>
                  <a:srgbClr val="64D2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9932B-CB70-4B08-A0FD-C3752F6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62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風險預演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33D9A-8742-4889-AA8A-A4FC659B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1339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8E93"/>
                </a:solidFill>
              </a:defRPr>
            </a:pPr>
            <a:r>
              <a:rPr sz="1125" b="0">
                <a:solidFill>
                  <a:srgbClr val="8E8E93"/>
                </a:solidFill>
              </a:rPr>
              <a:t>先想哪裡會壞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124F1-8044-4BB7-9272-46462819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29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D2FF"/>
                </a:solidFill>
              </a:defRPr>
            </a:pPr>
            <a:r>
              <a:rPr sz="1050" b="1">
                <a:solidFill>
                  <a:srgbClr val="64D2F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6D123-DE20-4E5C-9C26-4A6E2DCF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816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交付物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3DD8D-A26B-4FB5-AA32-526DE51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753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8E93"/>
                </a:solidFill>
              </a:defRPr>
            </a:pPr>
            <a:r>
              <a:rPr sz="1125" b="0">
                <a:solidFill>
                  <a:srgbClr val="8E8E93"/>
                </a:solidFill>
              </a:rPr>
              <a:t>確認誰等誰</a:t>
            </a:r>
          </a:p>
        </p:txBody>
      </p:sp>
    </p:spTree>
    <p:extLst>
      <p:ext uri="{BB962C8B-B14F-4D97-AF65-F5344CB8AC3E}">
        <p14:creationId xmlns:p14="http://schemas.microsoft.com/office/powerpoint/2010/main" val="1854783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18368-9F49-4B8C-96B3-3D91102B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56DE6-7FDE-4015-8649-BAEDC22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方法 01｜KJ 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201CC-2883-4546-B222-C1156F4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先倒出來。再看見結構。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81CB3-68DF-4320-B15E-9B5DC733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一張便利貼只寫一件事，安靜發散後再分群命名。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97AEE-B87E-4665-B005-F1F1D187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57250" y="31432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75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C167F-AADB-428D-8FB4-14F22237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主持稿版本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24DB9-AB28-4087-8B38-45B6CC9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238500" y="31432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4DEA6-B5D1-4CDE-B10F-158C0E1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音響測試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F3072-232D-4CE0-B8BE-2DA61FE4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619750" y="31432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A607E-F507-4108-9D29-C83B28E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表演進場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9FCC7-5918-4499-916C-081C851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857250" y="45243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2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3130E-9DEF-47AB-8AAD-FFCAC6E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33925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貴賓稱謂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10543-B7C6-450F-9E1F-265F700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3238500" y="45243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93C4C-24F6-483C-96A9-A43E285F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33925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開幕合照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FC808-B768-4E75-874E-D6C9BCD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5619750" y="45243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7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67C15-34B7-4F71-BE31-583C0FA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33925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摸彩 cue 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C4E4D-BDC8-4F3B-B4C5-7A0897A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71E3"/>
                </a:solidFill>
              </a:defRPr>
            </a:pPr>
            <a:r>
              <a:rPr sz="4350" b="1">
                <a:solidFill>
                  <a:srgbClr val="0071E3"/>
                </a:solidFill>
              </a:rPr>
              <a:t>15 分鐘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B9C76-DBF2-4E47-A7E4-7CF06F8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寫  →  分  →  命名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F3CB7-E6B7-4584-A4D4-CA9EFB4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E6E73"/>
                </a:solidFill>
              </a:defRPr>
            </a:pPr>
            <a:r>
              <a:rPr sz="1725" b="0">
                <a:solidFill>
                  <a:srgbClr val="6E6E73"/>
                </a:solidFill>
              </a:rPr>
              <a:t>最後留下 3–5 個</a:t>
            </a:r>
          </a:p>
          <a:p xmlns:a="http://schemas.openxmlformats.org/drawingml/2006/main">
            <a:pPr algn="ctr">
              <a:defRPr sz="1725" b="0">
                <a:solidFill>
                  <a:srgbClr val="6E6E73"/>
                </a:solidFill>
              </a:defRPr>
            </a:pPr>
            <a:r>
              <a:rPr sz="1725" b="0">
                <a:solidFill>
                  <a:srgbClr val="6E6E73"/>
                </a:solidFill>
              </a:rPr>
              <a:t>真正可管理的工作包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77C50-7661-44D6-A81C-A19DCCEF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04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2076806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61EC66-2368-49E8-8208-23010C64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24EB9-A04E-43EA-98F4-C57D700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方法 02｜情境走讀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B9E1A-CE82-4579-A8EA-D32C792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跟著攤商走一遍，漏掉的事就出現了。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F3436-8FA2-475D-A5BA-72441670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A4FF8-A91A-4CE4-AA75-A31A3348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99E2-4846-4273-A45B-3D2D00F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A756-ED4F-43B1-A28C-F9B7D6C5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10:00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145A2-66F1-4731-A1A1-2846FE05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抵達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39E4-8D7B-4E35-915C-3C0F39A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8A0BE-41D4-4DEF-B72C-1140BA8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81182-71B7-4763-9991-D1EF6CB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10:10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9F197-B4C4-40FF-B91A-B41DFA26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卸貨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DAC40-D9C9-4036-B7B8-A8C7B58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9525">
            <a:solidFill>
              <a:srgbClr val="D2D2D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EB54C-32BE-4495-94DB-5AED15D7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90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70B62-0040-4D9E-8B7C-E74A9A9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10:25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00C56-0A0F-49E7-A43F-EB3C054B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05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報到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DAFC1-75F4-4194-A05B-AB3B1843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A0C2F-AB9A-4BF3-B550-2386BEFC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B431B-D2AD-42C8-B807-DF048EC4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活動中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EB800-79E1-4B4C-BCCC-C72AAF7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支援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DDE7F-5FA2-40B7-9BA4-80C6031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B0D52-273D-4ABD-A40B-4D7AD35A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90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DA21E-6DC2-4087-8A8F-9F7A813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17:30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1D180-F70C-49DE-8BB0-612D7663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05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撤場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78947-99DE-4AD0-99A6-C0F4953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</a:defRPr>
            </a:pPr>
            <a:r>
              <a:rPr sz="1800" b="0">
                <a:solidFill>
                  <a:srgbClr val="6E6E73"/>
                </a:solidFill>
              </a:rPr>
              <a:t>車停哪裡？  找誰報到？  設備缺了誰處理？  垃圾與營收表交給誰？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8440F-F3FE-405E-B1C0-D3646D0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05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1699674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1E3B7F-241A-45FB-ADBD-22DDCEB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810EA-337F-4CE6-ACE7-CB311DB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方法 03｜倒推法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AEE7B-25E7-4D2D-92AD-B30C7D33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如果 10/3 要順利，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A1FC6-6C08-44CD-B2EE-77C8A1F1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4D2FF"/>
                </a:solidFill>
              </a:defRPr>
            </a:pPr>
            <a:r>
              <a:rPr sz="4050" b="1">
                <a:solidFill>
                  <a:srgbClr val="64D2FF"/>
                </a:solidFill>
              </a:rPr>
              <a:t>今天以前必須完成什麼？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BA78-6176-4430-9E58-B5BA2A1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2FF"/>
                </a:solidFill>
              </a:defRPr>
            </a:pPr>
            <a:r>
              <a:rPr sz="1350" b="1">
                <a:solidFill>
                  <a:srgbClr val="64D2FF"/>
                </a:solidFill>
              </a:rPr>
              <a:t>10/3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A6791-5CBF-44F7-B29E-6F01951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2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EF4C7-0508-4AD7-97F3-8F67784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09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順利兌獎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212C3-5F07-483F-B8F5-53E3EFEA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8E93"/>
                </a:solidFill>
              </a:defRPr>
            </a:pPr>
            <a:r>
              <a:rPr sz="1350" b="1">
                <a:solidFill>
                  <a:srgbClr val="8E8E93"/>
                </a:solidFill>
              </a:rPr>
              <a:t>9/25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87994-DE70-44AD-800B-A69B7EF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F70EA-5B72-4D8C-A06D-B62C81E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</a:defRPr>
            </a:pPr>
            <a:r>
              <a:rPr sz="1500" b="0">
                <a:solidFill>
                  <a:srgbClr val="A1A1A6"/>
                </a:solidFill>
              </a:rPr>
              <a:t>人員演練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81B51-FDD8-481A-AE4C-70D8C19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8E93"/>
                </a:solidFill>
              </a:defRPr>
            </a:pPr>
            <a:r>
              <a:rPr sz="1350" b="1">
                <a:solidFill>
                  <a:srgbClr val="8E8E93"/>
                </a:solidFill>
              </a:rPr>
              <a:t>9/18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BD3C1-7A57-463F-BD7C-9E0174E5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52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BF2AB-B335-432A-B581-977895A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</a:defRPr>
            </a:pPr>
            <a:r>
              <a:rPr sz="1500" b="0">
                <a:solidFill>
                  <a:srgbClr val="A1A1A6"/>
                </a:solidFill>
              </a:rPr>
              <a:t>物料到位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133C6-857B-4964-854D-837B600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8E93"/>
                </a:solidFill>
              </a:defRPr>
            </a:pPr>
            <a:r>
              <a:rPr sz="1350" b="1">
                <a:solidFill>
                  <a:srgbClr val="8E8E93"/>
                </a:solidFill>
              </a:rPr>
              <a:t>9/10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F7DB9-7F9E-4346-9AC1-926D54D0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5143A-4ADA-448B-AE9B-C500C657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95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</a:defRPr>
            </a:pPr>
            <a:r>
              <a:rPr sz="1500" b="0">
                <a:solidFill>
                  <a:srgbClr val="A1A1A6"/>
                </a:solidFill>
              </a:rPr>
              <a:t>規則定稿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753CB-71E0-4410-A5AC-47A611C0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0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8E93"/>
                </a:solidFill>
              </a:defRPr>
            </a:pPr>
            <a:r>
              <a:rPr sz="1350" b="1">
                <a:solidFill>
                  <a:srgbClr val="8E8E93"/>
                </a:solidFill>
              </a:rPr>
              <a:t>8/30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9F590-4DD3-4B82-BDCA-F1AA37F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435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007AF-2CFC-4F19-93AE-75F5FE8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91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</a:defRPr>
            </a:pPr>
            <a:r>
              <a:rPr sz="1500" b="0">
                <a:solidFill>
                  <a:srgbClr val="A1A1A6"/>
                </a:solidFill>
              </a:rPr>
              <a:t>流程初版</a:t>
            </a:r>
          </a:p>
        </p:txBody>
      </p:sp>
    </p:spTree>
    <p:extLst>
      <p:ext uri="{BB962C8B-B14F-4D97-AF65-F5344CB8AC3E}">
        <p14:creationId xmlns:p14="http://schemas.microsoft.com/office/powerpoint/2010/main" val="943592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E57AE-DFB8-492C-AA9D-C67E887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A5760-64DC-4765-B730-F2C27B4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方法 04｜風險預演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1973A-6113-44BE-976B-261615D6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先假設服務台爆掉。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B0158-3861-4918-9AC7-E1A626A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不是悲觀，而是讓防線提早出現。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5F36F-F8F4-4506-90A2-74587EF3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F"/>
                </a:solidFill>
              </a:defRPr>
            </a:pPr>
            <a:r>
              <a:rPr sz="2850" b="1">
                <a:solidFill>
                  <a:srgbClr val="1D1D1F"/>
                </a:solidFill>
              </a:rPr>
              <a:t>排隊塞住入口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58588-0F81-4E1A-BEF6-E45C947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2D2D7"/>
                </a:solidFill>
              </a:defRPr>
            </a:pPr>
            <a:r>
              <a:rPr sz="285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7563F-7A49-425D-865F-BF7EEDC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1E3"/>
                </a:solidFill>
              </a:defRPr>
            </a:pPr>
            <a:r>
              <a:rPr sz="2100" b="1">
                <a:solidFill>
                  <a:srgbClr val="0071E3"/>
                </a:solidFill>
              </a:rPr>
              <a:t>規則圖卡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50BC7-FCEE-412E-85DE-0233EED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1E3"/>
                </a:solidFill>
              </a:defRPr>
            </a:pPr>
            <a:r>
              <a:rPr sz="2100" b="1">
                <a:solidFill>
                  <a:srgbClr val="0071E3"/>
                </a:solidFill>
              </a:rPr>
              <a:t>分流排隊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7E6D4-9D4B-456C-A3D2-A24B560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1E3"/>
                </a:solidFill>
              </a:defRPr>
            </a:pPr>
            <a:r>
              <a:rPr sz="2100" b="1">
                <a:solidFill>
                  <a:srgbClr val="0071E3"/>
                </a:solidFill>
              </a:rPr>
              <a:t>現場演練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45999-5194-47C4-8DEE-8BA641C7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667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26DF0-4827-4C3D-9E69-3F63C7C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最後寫回總控表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8C863-6503-463B-B832-29E055D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風險</a:t>
            </a:r>
          </a:p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預防措施</a:t>
            </a:r>
          </a:p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誰決策・誰通報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A07D3-C8E3-476B-A78A-E6E0AB7C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07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330385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1171A1-F9E2-4939-808E-D7F313F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C526C-5A3D-45FB-814A-9E36D79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方法 05｜交付物檢查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16076-EBB1-4509-A060-2354F90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一個動作，不等於完成。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0527A-3353-4AD7-A47C-04AF3DD5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E6E73"/>
                </a:solidFill>
              </a:defRPr>
            </a:pPr>
            <a:r>
              <a:rPr sz="3150" b="1">
                <a:solidFill>
                  <a:srgbClr val="6E6E73"/>
                </a:solidFill>
              </a:rPr>
              <a:t>聯繫表演團隊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3420D-710D-405B-9329-C1995F9A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071E3"/>
                </a:solidFill>
              </a:defRPr>
            </a:pPr>
            <a:r>
              <a:rPr sz="3750" b="1">
                <a:solidFill>
                  <a:srgbClr val="0071E3"/>
                </a:solidFill>
              </a:rPr>
              <a:t>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E0AC5-47D6-42DE-A8E1-5DCB5954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F"/>
                </a:solidFill>
              </a:defRPr>
            </a:pPr>
            <a:r>
              <a:rPr sz="3150" b="1">
                <a:solidFill>
                  <a:srgbClr val="1D1D1F"/>
                </a:solidFill>
              </a:rPr>
              <a:t>表演團隊確認包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B7A58-D659-4803-8CD5-9B77259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1E3"/>
                </a:solidFill>
              </a:defRPr>
            </a:pPr>
            <a:r>
              <a:rPr sz="1725" b="1">
                <a:solidFill>
                  <a:srgbClr val="0071E3"/>
                </a:solidFill>
              </a:rPr>
              <a:t>報價  ·  演出時間  ·  進場時間  ·  設備需求  ·  聯絡人  ·  付款資料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22201-D84D-4C25-94D3-7808FDF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D1D1F"/>
                </a:solidFill>
              </a:defRPr>
            </a:pPr>
            <a:r>
              <a:rPr sz="2175" b="1">
                <a:solidFill>
                  <a:srgbClr val="1D1D1F"/>
                </a:solidFill>
              </a:rPr>
              <a:t>寫到別人可以照著做，才算完成。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72E86-A5F4-4DE3-A511-ACD2A40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08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41043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53446-2332-435F-AB3F-1122BA12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7E809-89B4-4B3D-A2DB-CEB3C26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今天的練習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6F75D-5708-4755-B572-E8C00F6E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75" b="1">
                <a:solidFill>
                  <a:srgbClr val="0071E3"/>
                </a:solidFill>
              </a:defRPr>
            </a:pPr>
            <a:r>
              <a:rPr sz="9375" b="1">
                <a:solidFill>
                  <a:srgbClr val="0071E3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40C7C-AB2C-4833-8B29-533E4FE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分鐘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D3330-5AEB-4416-919A-9A42FEA9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</a:defRPr>
            </a:pPr>
            <a:r>
              <a:rPr sz="3225" b="1">
                <a:solidFill>
                  <a:srgbClr val="1D1D1F"/>
                </a:solidFill>
              </a:rPr>
              <a:t>把一項工作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</a:defRPr>
            </a:pPr>
            <a:r>
              <a:rPr sz="3225" b="1">
                <a:solidFill>
                  <a:srgbClr val="1D1D1F"/>
                </a:solidFill>
              </a:rPr>
              <a:t>拆成可回填的工作包。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7C4DA-9951-40AF-89FA-3B33E190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</a:defRPr>
            </a:pPr>
            <a:r>
              <a:rPr sz="25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A017D-738C-49B6-B6D7-B4104DE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KJ 發散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6C3A1-0557-4508-BA90-F0B22A70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57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D2D7"/>
                </a:solidFill>
              </a:defRPr>
            </a:pPr>
            <a:r>
              <a:rPr sz="18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DA93F-FCE9-46E2-B9CF-7AA6CA3D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</a:defRPr>
            </a:pPr>
            <a:r>
              <a:rPr sz="25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A9E00-3C00-4E82-85DB-97C065D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分群命名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3A1CC-38A4-4C14-B9CA-693F3E6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57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D2D7"/>
                </a:solidFill>
              </a:defRPr>
            </a:pPr>
            <a:r>
              <a:rPr sz="18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BF79B-2AD0-444D-80A4-6EE766E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</a:defRPr>
            </a:pPr>
            <a:r>
              <a:rPr sz="25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8A864-09AA-41B7-B44B-6CC7325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情境走讀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83981-615A-4531-830B-DC7FA2A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D2D7"/>
                </a:solidFill>
              </a:defRPr>
            </a:pPr>
            <a:r>
              <a:rPr sz="18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A29CA-CE06-451D-A1F0-47F360E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</a:defRPr>
            </a:pPr>
            <a:r>
              <a:rPr sz="25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059EE-77E7-40E6-9554-2C953E6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倒推風險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12562-A358-4B3C-B509-E8F3864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57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D2D7"/>
                </a:solidFill>
              </a:defRPr>
            </a:pPr>
            <a:r>
              <a:rPr sz="18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6217F-14F5-4A83-A07F-2BF814FE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</a:defRPr>
            </a:pPr>
            <a:r>
              <a:rPr sz="25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5C723-AF67-4639-8584-0BE5281A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回填總控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C4D02-30C4-4392-AE8C-DFE81F1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09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1812635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6F7C5-F02B-4809-81DF-14DCAFB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AC0FB-CDE4-48C7-A0C5-CB1CEBE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五種方法，不是五選一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88DAC-AF4C-4705-B215-9F03266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看你卡在哪裡，就從哪一種方法開始。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50167-AD46-45B2-A8B6-6D8B32D8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同一個工作包，最後仍要把五種視角整合起來。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504C3-1A3A-4C84-9684-7506645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21431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ACB40-CF7A-4431-ADE9-8FD70C8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7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5DF5-3649-4AC7-91A8-BB3E470E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腦中太多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3EA2D-1F14-492E-B4F5-97B8679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A0DA0-288E-4F06-8743-4E6C222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910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KJ 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C203A-0752-4BD4-97C2-37CE20BF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52625" cy="21431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C309C-ECB6-4297-9227-E5C65A65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2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2CF4B-6772-4BDE-94EC-19DBAD0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908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容易漏事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E53C1-799A-4F5B-86AF-76FA754E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C2B7-87FB-46B7-8ABD-DD630556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910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情境走讀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1A096-ACE6-417B-AE56-BC2E68FD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952625" cy="21431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7EE9A-4E09-49DE-8DEB-F1610C34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104E-F480-4ED2-9543-6509742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908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日期模糊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394A1-E3BB-4BFA-8485-7E9FF3A2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95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D39C8-012B-4AF2-971A-100E8887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910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倒推法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32806-D344-4B3D-9AE5-55944794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1952625" cy="21431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B59A2-8C6B-460F-961C-0F76F46E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0563E-F590-455F-8FA2-A20DA09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怕現場出包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FCD05-B9FD-436F-AFF9-6D799A6D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5CCDF-3BCD-479A-BADF-CBE08F1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910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風險預演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E23E2-7B2D-4AD5-80EF-2B167C3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952625" cy="21431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E9BF2-54C3-4CC5-839E-C74D23FE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6C191-95CF-4733-A8F5-D0F948C4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908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完成定義不清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D90C9-673B-446A-BDCB-09FF9924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95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7231B-8D11-41DF-9786-B1D1EB94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910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交付物檢查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D1F83-AFAF-4D9A-9927-C3B57118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</a:defRPr>
            </a:pPr>
            <a:r>
              <a:rPr sz="1875" b="1">
                <a:solidFill>
                  <a:srgbClr val="0071E3"/>
                </a:solidFill>
              </a:rPr>
              <a:t>起點不同，終點相同：形成可執行、可審核、可接手的工作包。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75515-4742-4DDF-8D6C-6560878E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10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20948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2C7DC-1EE6-4749-B540-6893D47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3A3A1-B446-4A39-A386-7263438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一個任務，前後差在哪裡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A92D6-5B4E-4673-98E4-6D5422B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71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從一句模糊交辦，變成可執行的工作。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C7411-C13D-4B76-BE60-E0A528F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E73"/>
                </a:solidFill>
              </a:defRPr>
            </a:pPr>
            <a:r>
              <a:rPr sz="1425" b="1">
                <a:solidFill>
                  <a:srgbClr val="6E6E73"/>
                </a:solidFill>
              </a:rPr>
              <a:t>之前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44834-28B6-4422-9801-D44D56BD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</a:defRPr>
            </a:pPr>
            <a:r>
              <a:rPr sz="3000" b="1">
                <a:solidFill>
                  <a:srgbClr val="1D1D1F"/>
                </a:solidFill>
              </a:rPr>
              <a:t>聯繫表演團隊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85879-31E0-49A5-9B85-B587A86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看不到完成標準，也不知道誰在等它。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2BFD8-307B-48CE-BF09-15BA2D4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00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71E3"/>
                </a:solidFill>
              </a:defRPr>
            </a:pPr>
            <a:r>
              <a:rPr sz="360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66341-2D34-4062-8987-86EC53E1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1E3"/>
                </a:solidFill>
              </a:defRPr>
            </a:pPr>
            <a:r>
              <a:rPr sz="1425" b="1">
                <a:solidFill>
                  <a:srgbClr val="0071E3"/>
                </a:solidFill>
              </a:rPr>
              <a:t>之後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B05FA-0905-48C3-8453-5171954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</a:defRPr>
            </a:pPr>
            <a:r>
              <a:rPr sz="3000" b="1">
                <a:solidFill>
                  <a:srgbClr val="1D1D1F"/>
                </a:solidFill>
              </a:rPr>
              <a:t>表演團隊確認包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D919F-519C-4662-B3A9-36C057CB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233D1-0D53-4741-BEE7-768D2D2F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報價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A52A-ABFB-4F1D-9EE8-8D44419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41D99-3901-4003-A4B2-163C9EF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演出時間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F929C-1FF1-4AA3-AB1A-F900B3E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0EFD9-50A8-41D5-A845-2C7571D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進場時間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1E239-1947-401C-9B2D-F7EA0D1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05250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D8295-9017-4AF7-AACF-7AFBEDF4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528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設備需求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7C861-A50D-4181-94AD-69594EF0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1B8A0-14AA-4C22-8508-44A49C64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聯絡人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E9FF0-7681-409E-B2AD-DB17348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32887-8DD9-4199-B4C7-CD0C10E7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1D1F"/>
                </a:solidFill>
              </a:defRPr>
            </a:pPr>
            <a:r>
              <a:rPr sz="1200" b="0">
                <a:solidFill>
                  <a:srgbClr val="1D1D1F"/>
                </a:solidFill>
              </a:rPr>
              <a:t>付款資料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50465-BB98-44B3-A0BD-F2086727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24375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0C7D4-F055-4FBF-B202-7A53EED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審核人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71B21-D338-4233-A225-61F79B5C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24375"/>
            <a:ext cx="1000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18968-9011-448D-BDD8-169A693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最晚完成日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B9DB5-55A1-4651-AFE1-C20BE8B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</a:defRPr>
            </a:pPr>
            <a:r>
              <a:rPr sz="825" b="0">
                <a:solidFill>
                  <a:srgbClr val="6E6E73"/>
                </a:solidFill>
              </a:rPr>
              <a:t>11  ·  2026 好時光・靚市集</a:t>
            </a:r>
          </a:p>
        </p:txBody>
      </p:sp>
    </p:spTree>
    <p:extLst>
      <p:ext uri="{BB962C8B-B14F-4D97-AF65-F5344CB8AC3E}">
        <p14:creationId xmlns:p14="http://schemas.microsoft.com/office/powerpoint/2010/main" val="1090918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C3731-668E-4160-94B1-F90B1A2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C26C7-31CB-418A-BE39-AFBCEE3B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最後要交出的，不是一張便利貼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AE4BE-1AF4-4650-A1CC-864FDBD6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一個完整工作包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0DAD5-A26E-4CC7-874A-D0CE0B5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6"/>
                </a:solidFill>
              </a:defRPr>
            </a:pPr>
            <a:r>
              <a:rPr sz="1725" b="0">
                <a:solidFill>
                  <a:srgbClr val="A1A1A6"/>
                </a:solidFill>
              </a:rPr>
              <a:t>八個欄位，讓工作真正能運轉。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218E-E4CB-438B-B6DC-8D34BA89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4667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16161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EB5AC-6D35-4AE9-9C85-6A9AD55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攤商進場包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D16FF-6FAF-4204-94F0-B777717A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10/3 09:00 前完成進場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E95A7-CED1-44A3-865E-6130E64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主責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0603E-D483-4D7D-AE58-C9AF630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莞婷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CE211-82D6-480D-AC4A-88E19FF9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協作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EBB9C-0127-4155-838E-3E4864A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柏升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502DF-34F4-4157-B7C7-853E3E78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交付物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98F9F-FDC3-4F9F-B738-28E1003B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進場名冊＋攤位圖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A80B1-FC20-4E69-BFEB-E8356894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審核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0D140-1068-45C9-9F00-8911F79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怡文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05FC5-F95D-4CA9-B3D3-09F0E0C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最晚日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36A73-FE83-4C05-A6B9-CE78E63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72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9/25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56550-BC25-4B6D-A3EA-26CB6E9B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8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前置依賴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5D6AD-BF93-4449-A19F-7DBEF76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72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廠商名單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41F56-9F80-4BF8-8472-49F5957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8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風險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6651F-3781-4A56-8E73-6981A9B3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72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卸貨塞車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1FF53-8E39-4DAD-B8AE-4287119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備援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C227C-BAD7-4832-8739-8027459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572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第二入口</a:t>
            </a:r>
          </a:p>
        </p:txBody>
      </p:sp>
    </p:spTree>
    <p:extLst>
      <p:ext uri="{BB962C8B-B14F-4D97-AF65-F5344CB8AC3E}">
        <p14:creationId xmlns:p14="http://schemas.microsoft.com/office/powerpoint/2010/main" val="633874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A4F78-21A5-4FE1-84AF-DBA68AF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把模糊的工作，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50E43-1003-4A7F-A2A6-924FD1E1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4D2FF"/>
                </a:solidFill>
              </a:defRPr>
            </a:pPr>
            <a:r>
              <a:rPr sz="4350" b="1">
                <a:solidFill>
                  <a:srgbClr val="64D2FF"/>
                </a:solidFill>
              </a:rPr>
              <a:t>寫到別人可以照著做。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467BD-6EC7-473A-9BBE-FEF7DE96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362FB-E6F2-4B2A-8789-D1EF084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 個新增工作包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C7CA7-3C18-441D-AB9B-40ADFC2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每包的完成標準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A6AF7-9A06-43FC-92F3-7B35B69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 個跨組需求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8A43F-2F86-4BE7-B204-6EFA6F1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1A1A6"/>
                </a:solidFill>
              </a:defRPr>
            </a:pPr>
            <a:r>
              <a:rPr sz="2250" b="0">
                <a:solidFill>
                  <a:srgbClr val="A1A1A6"/>
                </a:solidFill>
              </a:rPr>
              <a:t>這才叫總控。</a:t>
            </a:r>
          </a:p>
        </p:txBody>
      </p:sp>
    </p:spTree>
    <p:extLst>
      <p:ext uri="{BB962C8B-B14F-4D97-AF65-F5344CB8AC3E}">
        <p14:creationId xmlns:p14="http://schemas.microsoft.com/office/powerpoint/2010/main" val="115722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2026-07-12T01:02:13.4180000Z</dcterms:created>
  <dcterms:modified xsi:type="dcterms:W3CDTF">2026-07-12T01:02:13.4180000Z</dcterms:modified>
</coreProperties>
</file>