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f5e6d6af04995" /><Relationship Type="http://schemas.openxmlformats.org/officeDocument/2006/relationships/extended-properties" Target="/docProps/app.xml" Id="R4fbf875109644cbb" /><Relationship Type="http://schemas.openxmlformats.org/officeDocument/2006/relationships/officeDocument" Target="/ppt/presentation.xml" Id="Ra224f13abe534a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dfce06ae7346d7"/>
  </p:sldMasterIdLst>
  <p:notesMasterIdLst>
    <p:notesMasterId xmlns:r="http://schemas.openxmlformats.org/officeDocument/2006/relationships" r:id="R9d1617bdb1ef48bc"/>
  </p:notesMasterIdLst>
  <p:sldIdLst>
    <p:sldId xmlns:r="http://schemas.openxmlformats.org/officeDocument/2006/relationships" id="256" r:id="R4f9c0d4b8b4c4d19"/>
    <p:sldId xmlns:r="http://schemas.openxmlformats.org/officeDocument/2006/relationships" id="257" r:id="Rc9d29cc5f7f14344"/>
    <p:sldId xmlns:r="http://schemas.openxmlformats.org/officeDocument/2006/relationships" id="258" r:id="R569f5c8fa58a437b"/>
    <p:sldId xmlns:r="http://schemas.openxmlformats.org/officeDocument/2006/relationships" id="259" r:id="R854419ab0f8a48f6"/>
    <p:sldId xmlns:r="http://schemas.openxmlformats.org/officeDocument/2006/relationships" id="260" r:id="R8b5ba6399ec04840"/>
    <p:sldId xmlns:r="http://schemas.openxmlformats.org/officeDocument/2006/relationships" id="261" r:id="R3e709ad2a09a4603"/>
    <p:sldId xmlns:r="http://schemas.openxmlformats.org/officeDocument/2006/relationships" id="262" r:id="R9b399b3dbe4d454d"/>
    <p:sldId xmlns:r="http://schemas.openxmlformats.org/officeDocument/2006/relationships" id="263" r:id="Re593114694ae4156"/>
    <p:sldId xmlns:r="http://schemas.openxmlformats.org/officeDocument/2006/relationships" id="264" r:id="R590bb17e31234f96"/>
    <p:sldId xmlns:r="http://schemas.openxmlformats.org/officeDocument/2006/relationships" id="265" r:id="R3104c7e09f4b4ea1"/>
    <p:sldId xmlns:r="http://schemas.openxmlformats.org/officeDocument/2006/relationships" id="266" r:id="Rf0c49132e6444ae2"/>
    <p:sldId xmlns:r="http://schemas.openxmlformats.org/officeDocument/2006/relationships" id="267" r:id="R8d1f879d19bd40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fce06ae7346d7" /><Relationship Type="http://schemas.openxmlformats.org/officeDocument/2006/relationships/theme" Target="/ppt/theme/theme1.xml" Id="R9178f4c98d774dd6" /><Relationship Type="http://schemas.openxmlformats.org/officeDocument/2006/relationships/notesMaster" Target="/ppt/notesMasters/notesMaster1.xml" Id="R9d1617bdb1ef48bc" /><Relationship Type="http://schemas.openxmlformats.org/officeDocument/2006/relationships/presProps" Target="/ppt/presProps.xml" Id="Rf55d4fe1d9a84253" /><Relationship Type="http://schemas.openxmlformats.org/officeDocument/2006/relationships/viewProps" Target="/ppt/viewProps.xml" Id="R15534d0e50c240c7" /><Relationship Type="http://schemas.openxmlformats.org/officeDocument/2006/relationships/tableStyles" Target="/ppt/tableStyles.xml" Id="R42d848ba798b443d" /><Relationship Type="http://schemas.openxmlformats.org/officeDocument/2006/relationships/slide" Target="/ppt/slides/slide1.xml" Id="R4f9c0d4b8b4c4d19" /><Relationship Type="http://schemas.openxmlformats.org/officeDocument/2006/relationships/slide" Target="/ppt/slides/slide2.xml" Id="Rc9d29cc5f7f14344" /><Relationship Type="http://schemas.openxmlformats.org/officeDocument/2006/relationships/slide" Target="/ppt/slides/slide3.xml" Id="R569f5c8fa58a437b" /><Relationship Type="http://schemas.openxmlformats.org/officeDocument/2006/relationships/slide" Target="/ppt/slides/slide4.xml" Id="R854419ab0f8a48f6" /><Relationship Type="http://schemas.openxmlformats.org/officeDocument/2006/relationships/slide" Target="/ppt/slides/slide5.xml" Id="R8b5ba6399ec04840" /><Relationship Type="http://schemas.openxmlformats.org/officeDocument/2006/relationships/slide" Target="/ppt/slides/slide6.xml" Id="R3e709ad2a09a4603" /><Relationship Type="http://schemas.openxmlformats.org/officeDocument/2006/relationships/slide" Target="/ppt/slides/slide7.xml" Id="R9b399b3dbe4d454d" /><Relationship Type="http://schemas.openxmlformats.org/officeDocument/2006/relationships/slide" Target="/ppt/slides/slide8.xml" Id="Re593114694ae4156" /><Relationship Type="http://schemas.openxmlformats.org/officeDocument/2006/relationships/slide" Target="/ppt/slides/slide9.xml" Id="R590bb17e31234f96" /><Relationship Type="http://schemas.openxmlformats.org/officeDocument/2006/relationships/slide" Target="/ppt/slides/slide10.xml" Id="R3104c7e09f4b4ea1" /><Relationship Type="http://schemas.openxmlformats.org/officeDocument/2006/relationships/slide" Target="/ppt/slides/slide11.xml" Id="Rf0c49132e6444ae2" /><Relationship Type="http://schemas.openxmlformats.org/officeDocument/2006/relationships/slide" Target="/ppt/slides/slide12.xml" Id="R8d1f879d19bd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f8e941622b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5d8ab40cc84ce2" /><Relationship Type="http://schemas.openxmlformats.org/officeDocument/2006/relationships/notesMaster" Target="/ppt/notesMasters/notesMaster1.xml" Id="Rf9d9400f52ec42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2b5f8b630446a" /><Relationship Type="http://schemas.openxmlformats.org/officeDocument/2006/relationships/notesMaster" Target="/ppt/notesMasters/notesMaster1.xml" Id="R9c5d590101be4a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c6ac46e0d4dfd" /><Relationship Type="http://schemas.openxmlformats.org/officeDocument/2006/relationships/notesMaster" Target="/ppt/notesMasters/notesMaster1.xml" Id="R16adc9682055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bc5474f7d4e76" /><Relationship Type="http://schemas.openxmlformats.org/officeDocument/2006/relationships/notesMaster" Target="/ppt/notesMasters/notesMaster1.xml" Id="R56ae5aef6112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2ca920f31426e" /><Relationship Type="http://schemas.openxmlformats.org/officeDocument/2006/relationships/notesMaster" Target="/ppt/notesMasters/notesMaster1.xml" Id="R1f4c1b625f1f4c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3a8cda69c401c" /><Relationship Type="http://schemas.openxmlformats.org/officeDocument/2006/relationships/notesMaster" Target="/ppt/notesMasters/notesMaster1.xml" Id="R51788d957d4d4e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8c3df7aae244b7" /><Relationship Type="http://schemas.openxmlformats.org/officeDocument/2006/relationships/notesMaster" Target="/ppt/notesMasters/notesMaster1.xml" Id="R6907e1728bbb47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6aa28ad37f43a3" /><Relationship Type="http://schemas.openxmlformats.org/officeDocument/2006/relationships/notesMaster" Target="/ppt/notesMasters/notesMaster1.xml" Id="R5e8b78685f8b46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3cd36826e14023" /><Relationship Type="http://schemas.openxmlformats.org/officeDocument/2006/relationships/notesMaster" Target="/ppt/notesMasters/notesMaster1.xml" Id="R17821e268c0245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7bbdc0beff4559" /><Relationship Type="http://schemas.openxmlformats.org/officeDocument/2006/relationships/notesMaster" Target="/ppt/notesMasters/notesMaster1.xml" Id="Rc139408e8fa34a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410f5478d44c5a" /><Relationship Type="http://schemas.openxmlformats.org/officeDocument/2006/relationships/notesMaster" Target="/ppt/notesMasters/notesMaster1.xml" Id="Rcdcc4a3bc5fc4e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3d5390a76f4036" /><Relationship Type="http://schemas.openxmlformats.org/officeDocument/2006/relationships/notesMaster" Target="/ppt/notesMasters/notesMaster1.xml" Id="R58749b8498c7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20cb8a7b440a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37fc958487440c1" /><Relationship Type="http://schemas.openxmlformats.org/officeDocument/2006/relationships/slideLayout" Target="/ppt/slideLayouts/slideLayout2.xml" Id="R85b0e925a877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b0e925a877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6dea04e4f4cb7" /><Relationship Type="http://schemas.openxmlformats.org/officeDocument/2006/relationships/notesSlide" Target="/ppt/notesSlides/notesSlide1.xml" Id="R78fc0a98306b4e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570e9ceb74aa3" /><Relationship Type="http://schemas.openxmlformats.org/officeDocument/2006/relationships/notesSlide" Target="/ppt/notesSlides/notesSlide2.xml" Id="R046c7c6726ee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7be9b68194888" /><Relationship Type="http://schemas.openxmlformats.org/officeDocument/2006/relationships/image" Target="/ppt/media/image.png" Id="R51e5cfcf99694cee" /><Relationship Type="http://schemas.openxmlformats.org/officeDocument/2006/relationships/notesSlide" Target="/ppt/notesSlides/notesSlide3.xml" Id="R81048ca2e29e43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d04f554e6541a2" /><Relationship Type="http://schemas.openxmlformats.org/officeDocument/2006/relationships/notesSlide" Target="/ppt/notesSlides/notesSlide4.xml" Id="R659cfbefe1034d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49df3aa72483a" /><Relationship Type="http://schemas.openxmlformats.org/officeDocument/2006/relationships/notesSlide" Target="/ppt/notesSlides/notesSlide5.xml" Id="Rdbc666e731ea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0c5fcc5994ebd" /><Relationship Type="http://schemas.openxmlformats.org/officeDocument/2006/relationships/notesSlide" Target="/ppt/notesSlides/notesSlide6.xml" Id="R787f8321051340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90905a83a74656" /><Relationship Type="http://schemas.openxmlformats.org/officeDocument/2006/relationships/notesSlide" Target="/ppt/notesSlides/notesSlide7.xml" Id="R5c74427b587145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6e84079bd475e" /><Relationship Type="http://schemas.openxmlformats.org/officeDocument/2006/relationships/notesSlide" Target="/ppt/notesSlides/notesSlide8.xml" Id="R85de2811168b4c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128d5ff6c4e75" /><Relationship Type="http://schemas.openxmlformats.org/officeDocument/2006/relationships/notesSlide" Target="/ppt/notesSlides/notesSlide9.xml" Id="R818468e0f29540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0cf6d0b1c14d92" /><Relationship Type="http://schemas.openxmlformats.org/officeDocument/2006/relationships/notesSlide" Target="/ppt/notesSlides/notesSlide10.xml" Id="R78241939662d45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b56d6e1bb4963" /><Relationship Type="http://schemas.openxmlformats.org/officeDocument/2006/relationships/notesSlide" Target="/ppt/notesSlides/notesSlide11.xml" Id="R44a7f3ee1e1546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44ae2a55134b3f" /><Relationship Type="http://schemas.openxmlformats.org/officeDocument/2006/relationships/notesSlide" Target="/ppt/notesSlides/notesSlide12.xml" Id="Rbe3a6213eb274f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F1781-119C-48C2-B460-4FBBFF03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44183-40EA-490F-9232-1AB18000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C83B0-D9F6-4CCF-A4EB-F3C45E10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AC801-7582-4FDA-AEF1-083A3E4C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學術論壇專題分享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17AE7-4541-4F3E-BBA5-32C0077A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885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從補助到共創：</a:t>
            </a:r>
          </a:p>
          <a:p xmlns:a="http://schemas.openxmlformats.org/drawingml/2006/main">
            <a:pPr algn="l">
              <a:defRPr sz="36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36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新竹縣地方創生的下一階段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E3BD4-06D6-4C5A-95C5-3C12E84C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以地方產業、企業 ESG 與公共治理打造永續地方生態系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C5790-0F61-4CAB-AD42-AE5BCFC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9D75C-9B53-4090-B422-26C8C00F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94A48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B94A48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97249-80F9-4BA9-946A-35EADC8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108-115 累計通過案件</a:t>
            </a:r>
          </a:p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新竹縣，不含新竹市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FD1C0-A1F3-446F-97E7-BA3133C1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76C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C76C33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DCAB6-1FD5-402B-954D-0317B3A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115 年度新增案件</a:t>
            </a:r>
          </a:p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歷年最高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D5D11-D568-4145-89FB-AF061678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291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ESG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5FFF2-0BF8-43CA-9BB8-504CD494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25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下一階段資源介面</a:t>
            </a:r>
          </a:p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企業、地方、學術共創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D0779-F682-4204-A2B9-B1C5EFD9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新竹縣政府行政處處長｜20 分鐘簡報草稿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44E84-FD71-41D3-A45E-3B1F3F6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草稿用途：學術論壇簡報敘事與視覺方向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53BC2-62C5-45ED-903A-54716BD5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72733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DF580-37E8-4251-8B7E-346FEB60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F4951-764D-49B6-AD5D-BB9C3247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ADC6C-6D6E-4C18-8AAE-662BFC49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BFB9D-9FF6-4038-9A33-B1BA83D1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B9D24-BAB2-4721-A409-88E4B3E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9197D-1D43-44A0-95B3-7B6059B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地方創生不是單一產業政策，而是縣域治理的整合題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2B6B8-476F-45EA-9922-7E7948D9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新竹縣同時具有科技廊帶、客庄文化、山線聚落、農漁產業與觀光資源，地方創生的任務是重新連接這些條件。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1B37E-C352-4544-ADCC-2757795A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0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CB22F-9833-47D8-818B-C3D407E9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2DC91-2A71-44A2-895D-FC301DD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青年留鄉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地方人才培力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695B7-4217-4DCA-9167-8E8B41A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40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1C90E-5CC9-42DC-9D30-6E7A921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6D019-B595-46EA-9EB2-BEDF973D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3855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農漁產業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品牌與體驗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BA08A-9372-4C09-84CF-25B9813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40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887F4-6B10-425B-91DB-C8FF5A40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1D5D8-C6C0-4B1B-AED0-8A98971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公有空間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閒置資產再利用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9C097-D95F-43BC-88C6-AEE6446F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40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7DF84-AC37-463F-9B75-8A2815E7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0454B-6376-42A8-BFB4-B769A62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客庄文化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地方故事轉譯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B5108-8397-42F1-A038-EC98ED19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409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BE453-5FC6-4018-B182-7D7FA71B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1290E-D1C6-40DB-8542-25AF50E1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跨局處協作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資料與成效追蹤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12999-9823-4132-A291-2A3AF5A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942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簡報定位：從「補助成果」提高到「公共治理方法」，比較適合學術論壇場景，也符合處長身分。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2D0DA-3027-4307-963C-D3C28941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AF0DF-AA95-4DE5-84B7-EA2B72A7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63715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95D09-B868-4629-8FC2-087451FC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E67D1-F693-4734-B603-EE636C58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C6468-5831-4890-AA4A-9B40694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522D6-F006-41C4-B9D5-D748CEC9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C9991-BB1A-467E-AAB5-2BF840C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82CA8-4212-4091-B77B-EB034196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108-115 年，新竹縣地方創生累計 26 件通過補助案件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5cfcf99694cee"/>
          <a:stretch xmlns:a="http://schemas.openxmlformats.org/drawingml/2006/main"/>
        </p:blipFill>
        <p:spPr>
          <a:xfrm xmlns:a="http://schemas.openxmlformats.org/drawingml/2006/main">
            <a:off x="790575" y="1619250"/>
            <a:ext cx="6172200" cy="4114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82BC2-D4FE-4FC8-BBD1-06C7F7A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57350"/>
            <a:ext cx="34766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17D54-35BD-43BD-9AEB-3CD3859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年度件數趨勢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99745-17E1-4CFE-AF2C-CC9D79D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4EF62-765C-4C58-A45F-C90A9D35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88779-26DA-4B6A-BD7D-E4EC949B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43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0 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858F8-0D4A-4124-8E40-081CBFF8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19D84-5DFB-477A-9130-4AD524DD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7A570-B201-4E95-906C-B523343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05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0 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58935-5E1A-43FD-9374-96EAC25B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ADC37-02CC-4E78-AF42-B3508E14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242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2297D-ACEC-4F3F-9224-2227F451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24200"/>
            <a:ext cx="89807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E4C42-07D9-4134-921E-15C5049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670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3 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E076B-8EE5-4314-B7F2-49B4CFF1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9D06C-98B0-499D-AAEE-497E1B6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861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8C639-F1CF-4F20-BADF-09ACE46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0 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B063D-FBAD-489C-AE5D-12D4D52B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C9554-5B52-428B-B5B5-332E3F3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481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F6AF1-E60B-4B80-B948-84772261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48100"/>
            <a:ext cx="179614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C3B77-88EE-4EE7-8ED2-F709E324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909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6 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6B287-C9D1-4025-A929-89C44C1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52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187F33-2F07-4C2B-95CB-446CA04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00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62D2F-B893-4D52-B220-03208BF0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0050"/>
            <a:ext cx="179614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3F905-4EDA-4706-A025-6554AC5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529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6 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8BB5E-391D-4983-ACBE-F9E592D6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5E3320-BE94-4ACB-961F-68EF460D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72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37A261-D3C8-450A-904C-85E2C03B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72000"/>
            <a:ext cx="119742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E5BF21-FDD9-46ED-89E9-68B5A6E9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148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4 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BDA223-5B9A-4392-AE4B-19A3AA04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25B"/>
                </a:solidFill>
                <a:latin typeface="Aptos"/>
                <a:ea typeface="Aptos"/>
                <a:cs typeface="Aptos"/>
              </a:rPr>
              <a:t>115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FFC5D-236C-427F-80B9-4E9DB92A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339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424462-61B4-4DE2-8B8F-883C91FC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339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CBB00B-BFC8-4FA8-B180-69C46C5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768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7 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05246-E7F5-49C4-BE6F-7938A31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578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115 年度 7 件為歷年最高，顯示地方團隊提案能力與縣級輔導能量持續成熟。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2610F9-5535-4FE9-AFDD-4B38346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資料來源：國發會地方創生資料、官方核定名單 PDF、案例地圖整理，整理日期 2026-05-26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4F1BDE-6B08-4FBF-BEFF-E4F310D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55590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98F31C-2522-40B8-8FBD-4603E68B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DCA5F-34E0-4186-B1A1-61D7805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71ACE-70DA-4E0D-B889-DCEDDA7F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5B6AB-EA8E-4904-B9EE-E81DA6DF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F477E-8A90-402D-8DEF-43959B59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77710-91B2-4E7C-B504-75A084C8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熱區顯示不同地方發展路徑，而不是同一套標準模型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7877B-0D43-429E-B4A0-9D70F6FD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B0C59-F560-4A75-95CE-6F6F1998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案例熱區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72DCD-02BD-4FDE-8DD9-553639B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芎林鄉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A2347-3F5E-4AC9-8DB5-9410427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71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3BD40-1C86-4402-AFBF-7B04037D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717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91EE9-625B-420F-94D2-23236228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240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4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B94A48"/>
                </a:solidFill>
                <a:latin typeface="PingFang TC"/>
                <a:ea typeface="PingFang TC"/>
                <a:cs typeface="PingFang TC"/>
              </a:rPr>
              <a:t>4 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9E5F3-0E93-479D-BA6B-5D3BADA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112-115 連續入選，鹿寮坑系列形成穩定脈絡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96AFF-EAC9-4419-A8C9-88CC254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橫山鄉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A6A3E-8D52-4631-880D-9A4201FE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52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2CFA8-9275-4690-919E-4F1CAF34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52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85B60-D82E-4D60-808C-3FDC9773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4A4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B94A48"/>
                </a:solidFill>
                <a:latin typeface="PingFang TC"/>
                <a:ea typeface="PingFang TC"/>
                <a:cs typeface="PingFang TC"/>
              </a:rPr>
              <a:t>4 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FF5F5-1DF8-43AD-8FCC-7D8E243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115 年同時出現利他行動 168 與獎勵青年投入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71AD1-749E-4996-AA6A-E1EB7277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峨眉鄉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B29BF-9211-4AA9-8C43-799435C0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33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06C0D-B586-475F-8051-9F6A1ABB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33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5049E-627E-448C-BA30-9D07D2C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861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C33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76C33"/>
                </a:solidFill>
                <a:latin typeface="PingFang TC"/>
                <a:ea typeface="PingFang TC"/>
                <a:cs typeface="PingFang TC"/>
              </a:rPr>
              <a:t>3 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AFD27-51EB-4FDD-8981-C8FF496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培力、鄉鎮提案、多元徵件皆有布局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6C130-FCDA-42C3-9733-638B329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新埔鎮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2493C-51EF-4287-ABF0-CAFA9D2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5C7D3-25C1-4F34-A0F2-183F2439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0455F-13FE-4F83-B589-AF86E21B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67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C33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76C33"/>
                </a:solidFill>
                <a:latin typeface="PingFang TC"/>
                <a:ea typeface="PingFang TC"/>
                <a:cs typeface="PingFang TC"/>
              </a:rPr>
              <a:t>3 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F407B-B14B-4A50-BFEA-E243C9DA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文化深耕與青年投入延續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22DED7-4838-41FE-915F-7E1F7CC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538CF-409C-44AB-B011-303C8BD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補助類型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904A5-8797-4528-AC3B-D8960CFE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6152AF-1D0B-4269-9E6C-77907CF7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獎勵青年投入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2655A4-8F5E-4B41-B44E-8C926E6E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479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6C33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C76C33"/>
                </a:solidFill>
                <a:latin typeface="PingFang TC"/>
                <a:ea typeface="PingFang TC"/>
                <a:cs typeface="PingFang TC"/>
              </a:rPr>
              <a:t>11 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CB760E-7663-4953-A1B5-7001B823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4BA90B-0EF1-44E5-9085-74A2BD98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青年培力工作站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8C8676-9795-4848-9094-6B4699F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D9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D8D9A"/>
                </a:solidFill>
                <a:latin typeface="PingFang TC"/>
                <a:ea typeface="PingFang TC"/>
                <a:cs typeface="PingFang TC"/>
              </a:rPr>
              <a:t>6 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FB9BB-164F-4080-9E8C-824C719C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CC14DD-6E59-44BE-A891-D9387652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培力工作站高階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4CA81-C52B-4488-8704-D1EEE5E1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480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6F9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96F9D"/>
                </a:solidFill>
                <a:latin typeface="PingFang TC"/>
                <a:ea typeface="PingFang TC"/>
                <a:cs typeface="PingFang TC"/>
              </a:rPr>
              <a:t>2 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592797-C49D-47DE-8074-68A1CCA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09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F3CB04-4213-4C4E-99D7-87EE6607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鄉鎮提案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2E7A7C-CEDB-40EE-A867-A8092BBA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480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2 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6494F8-F620-4522-B8E4-004F9E2E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E9B7CC-01F5-40DD-A638-3E6DD6F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多元徵件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9DBF6-85D8-43ED-9725-F194686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481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D9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4D8D9A"/>
                </a:solidFill>
                <a:latin typeface="PingFang TC"/>
                <a:ea typeface="PingFang TC"/>
                <a:cs typeface="PingFang TC"/>
              </a:rPr>
              <a:t>2 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47A118-5806-415E-AAF9-2F0238AE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F4C723-A852-498D-8519-8DA22EDB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90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利他行動 168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2D4E44-FD4B-4E66-8AD0-937EB60B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481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4A4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B94A48"/>
                </a:solidFill>
                <a:latin typeface="PingFang TC"/>
                <a:ea typeface="PingFang TC"/>
                <a:cs typeface="PingFang TC"/>
              </a:rPr>
              <a:t>2 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39F6CC-5B3B-4D50-915B-D008A676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6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72DA4A-94F4-4B46-BA71-936DE15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公有空間活化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526571-B765-4FEA-9F69-A3DF3AE3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482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D66B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8D66B7"/>
                </a:solidFill>
                <a:latin typeface="PingFang TC"/>
                <a:ea typeface="PingFang TC"/>
                <a:cs typeface="PingFang TC"/>
              </a:rPr>
              <a:t>1 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A4F1B1-14BF-4337-92D5-B30741D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政策意義：新竹縣已具備多入口、多類型的創生實驗場域，可進一步整合成縣級學習平台。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4EBE85-CA71-43C3-B188-E457B30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29E689-0569-431C-B030-911EF6AC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86820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0EAF4E-B014-492F-BA10-0001D00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9A3F9-9E60-4453-BADD-E3AC2B6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EA7AC-9686-43F2-A1E3-1AE4C523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B4494-C8E0-4A07-9A29-667EB84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4CD87-8409-4FA0-B6C8-68C4D8B9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COUNTY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5C24-27DC-4EE8-89A8-6DB4225F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縣府的任務，是把案子、人才、資源與制度接起來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2DC27-57B1-45B9-B970-F212D1F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F511D-0043-400B-9EC2-1C0E9BD9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952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DD5DA-045A-4473-A595-0949AD3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資料核查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ABB07-8BCF-4D24-A3F9-7F739777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官方 PDF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案例地圖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年度名單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6A165-9AA6-4630-96E8-95894BB9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990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B325E-E81F-42F5-9AB4-D238C0E8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432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6744A-3495-4200-890B-90B8CF9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2FE19-7227-48E8-BF1C-B60138C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1952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FC2E9-7C39-4902-92AB-FCFE4CC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輔導訪視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D97BA-74F3-45EC-8379-5B74DA9E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289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專家診斷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團隊陪伴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問題追蹤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6D83B-F9F1-4C82-ADB8-EE80D20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0990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AE7D8-706D-4059-B203-E8DD1D3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7162F-8CCA-45C9-9500-CDE6E1C2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59709-339C-49A9-AD8C-8A35DB19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1952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73264-AE05-493C-B86B-7A6AC01F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資源媒合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75488-5123-4EF1-A601-7EB8BE71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中央補助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企業 ESG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學術研究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CAE50-6D1B-4268-9D3F-8552EEC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9900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44043-2AED-4E26-BC48-FE14AF6A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432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7B9AB-18A3-419F-8F72-586A4502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F4F3-D8EE-4200-A8F5-FE0E91D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952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BE164D-5BE4-490B-9AAB-E97C0541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成果管理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7E9D10-9AB2-4777-8EAF-D45E68D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工作會議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社群曝光</a:t>
            </a:r>
          </a:p>
          <a:p xmlns:a="http://schemas.openxmlformats.org/drawingml/2006/main">
            <a:pPr algn="ctr">
              <a:def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期中期末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6A24DD-6BD0-46D9-90F6-3BDF5D3E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8"/>
          </a:solidFill>
          <a:ln xmlns:a="http://schemas.openxmlformats.org/drawingml/2006/main" w="9525">
            <a:solidFill>
              <a:srgbClr val="B7CA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1D6C2-4B9D-4D4A-B221-FB18F1A8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95825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從「補助協助者」轉為「地方創生平台」：讓地方團隊知道如何申請、如何營運、如何被看見，也讓外部資源知道該如何進入地方。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AD486-127B-4B29-9F5D-AE200E41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18702-3B33-4ECE-958C-FE95738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90969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B66E4-F647-44D9-B75A-3CAA7687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FACAB-F01B-4FD0-BF2D-9A554DB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3E48B-B258-4C9D-ACC8-E18509EB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015D5-ADB6-4488-9AE5-950ED4DB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92F8-8C08-407B-B6DF-01FA3290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OPERATING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1EDE1-761E-47FC-B4B3-31D71A6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地方創生輔導團讓創生從提案走向營運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88836-7E23-4D0E-9B9F-6DC5BCD5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904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C6A10-6D99-4AC8-848E-2716470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6905B-9D42-430B-ABC6-87AE952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288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0B9FF-B12E-482B-8483-A8CCE9E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完成輔導計畫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期末報告與成果展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B828D-BEA9-41CE-913A-1D9484E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485B5-39AA-438F-AAEC-CCBF2265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288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872F9-755A-4DA0-9641-F4C6E510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861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後續擴充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設置輔導中心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3325E-E1EE-4929-B140-519ED92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5D618-B606-4D5D-8400-441FFE95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288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每月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92226-6077-4B7B-9616-0381CA8E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工作會議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訪視與提交資料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3D0AF-A1C9-490F-9FA0-AC57F83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23BC1-2E20-49FC-B173-BD255638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288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全期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B450C-61C3-4A41-910B-A89BCDE3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861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社群貼文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期中期末報告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F46AF-51E1-4A94-959E-4914792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輔導團的價值，在於把專家、顧問、縣府窗口與地方團隊放進同一套工作流程，讓創生不只是補助申請，而是持續調整的行動過程。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4EECE-54D9-4601-8F1F-A94EF4C1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資料來源：新竹縣地方創生輔導團專案頁，跨 114-115 年度紀錄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861D1-EC51-4C1A-A296-EF0AE635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92097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54ED2-5B2B-4C84-BDEC-3A5AAAA8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5A83B-8564-4B79-93A4-5DF3AAC5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8D00D-493A-49AB-8660-11D23B81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19D69-1DF7-49F0-B887-70753647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BBB64-7D08-41AE-B5A5-A6943A4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CASE: XINFENG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1F9C1-A4E0-47EC-A0DE-6BDEB3F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新豐鄉：以公有空間作為地方產業與青年進駐平台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FC306-9A16-4294-8F2E-A9A2385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76C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C76C33"/>
                </a:solidFill>
                <a:latin typeface="Aptos Display"/>
                <a:ea typeface="Aptos Display"/>
                <a:cs typeface="Aptos Display"/>
              </a:rPr>
              <a:t>150萬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12DC3-6A34-4703-A85C-516B76A3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115 年度預算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832F2-3074-4B3F-AFB5-C8ED92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6B4F"/>
                </a:solidFill>
                <a:latin typeface="Aptos Display"/>
                <a:ea typeface="Aptos Display"/>
                <a:cs typeface="Aptos Display"/>
              </a:rPr>
              <a:t>7個月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1B359-FC44-4C87-8FDF-4CA62B4D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050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115/6/1-12/30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40A5A-AE51-46AE-942A-BF8ED4C5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716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D8D9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4D8D9A"/>
                </a:solidFill>
                <a:latin typeface="Aptos Display"/>
                <a:ea typeface="Aptos Display"/>
                <a:cs typeface="Aptos Display"/>
              </a:rPr>
              <a:t>市場2F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4A8F1-E0A8-4B8A-9569-4A346091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E625B"/>
                </a:solidFill>
                <a:latin typeface="PingFang TC"/>
                <a:ea typeface="PingFang TC"/>
                <a:cs typeface="PingFang TC"/>
              </a:rPr>
              <a:t>新庄子公有零售市場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F5400-6BFC-444E-AA2A-EC67DA95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7665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E0140-9856-4C32-AE00-8D19AC08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71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空間活化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E2BB4-1B52-4E1E-A085-35728AE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EA4D0-9269-42F5-B68B-E8FD4E42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9338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1D770-D6DC-4AC8-8C1B-0EF67DE9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BC871-09BC-463B-886A-9CF11E5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青年進駐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94200-EAD4-4E60-BFEF-18497679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005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34865-01C4-44F2-A2CD-33DBD98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338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9C063-092B-4087-8F0E-0027398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7665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C88BB-6339-47D8-8098-C0932D0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671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產業導入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F2132-D11E-4B7F-8A4C-890CD408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FE93D-0EC1-43F9-81B9-47A456C6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9338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47F08-145B-4C79-B2DB-95C52EC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FCDE8-0B1E-42E7-901E-95EEED59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社群聚集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DCCDF-3771-4B1B-8DD1-EFE3780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005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7E25F-20D0-4CAD-A772-633F4489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3382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7C5AB-FCF9-4A5C-BB85-ED1CD95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76650"/>
            <a:ext cx="1352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2ED3A7-5E67-489D-95E5-E53C8669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671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品牌形成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68458-A8BD-47D8-9C2F-9FDAC8CA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923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政策意義：公有空間不只被管理，而是成為展售、體驗、交流、創業與地方故事轉譯的基礎設施。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AF8991-5DD0-44BD-B914-F9AFC0C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資料來源：115 年新豐鄉公所公有空間活化工作計劃書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49F27A-D294-4058-8DA9-6A219B51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35121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EB953-2E82-4307-978F-5952A747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3A47D-AFF2-46ED-B576-8385C5B7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5B686-2E8A-4EE4-842A-7E05B89D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1900B-4469-4FEF-BDC1-67F3DE2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2DDDF-F2CB-4DCF-97AD-E8B8860C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NEXT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635A2-E4A5-4EF3-B920-A811653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ESG 不是企業形象工程，而是地方創生的新資源介面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BA0EF-1A85-4C34-8464-DED82C9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714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0346B-7DA1-4D04-AA01-0A4D1FF3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C7E32-519C-451B-AA1F-1E98F4E4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09249-1070-4312-B10D-5BF6688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81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環境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A56E1-9EC1-4F85-83CC-65707E10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循環經濟、環境友善、在地農漁產業、低碳旅遊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6B069-8B7C-497D-BA17-00CCD18A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2714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5CC11-EA66-4697-9889-02DBC414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80FF9-A099-4296-945E-07ED638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549C3-F388-47EB-9827-56912428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381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社會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B9078-D984-4036-B3E2-DA46CE3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青年留鄉、社區參與、文化保存、地方就業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1EBC1-AB25-4465-8C90-8C4E4F67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2714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3655A-82EA-4A3B-B21E-B5F81810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907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F202D-F9FD-44C0-B0C2-282B8B3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B66BF-B799-413D-BF6D-F3F00253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B5975-63EF-41C0-A9A4-5E3A2E79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透明資料、跨部門協作、成效追蹤、公共治理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C0CF4-805F-436F-B7F5-83C381AE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43500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8"/>
          </a:solidFill>
          <a:ln xmlns:a="http://schemas.openxmlformats.org/drawingml/2006/main" w="9525">
            <a:solidFill>
              <a:srgbClr val="B7CAB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67A45-2EE8-4670-9F53-1F34C9FD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縣府可扮演企業 ESG 與地方需求之間的可信任媒合平台。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B3AAE-7FCD-4346-8552-C50D82AD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FF91C-2894-43F1-AEDD-94FB2D5D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95650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434F8-D122-4C38-A521-32E76291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4C939-0247-4898-88BD-6633484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54A5-34F8-4D0B-AF71-E8E531AE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7931B-002C-4C4E-A774-B07D1C65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9D508-F438-46EE-B8C3-1E4B05B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ENTERPRISE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5FED1-BB29-4ED0-B23D-C820A29E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企業最有價值的協助，是把本業能力放進地方產業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150B1-88E0-4C54-AF59-DA42D08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34F06-DA85-4DBE-9CCF-9B26047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採購與通路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B4123-1FA8-418F-8803-212C9C0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62125"/>
            <a:ext cx="661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69C66-95FB-47A2-880C-7036493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764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企業採購、員工福利、市集、通路上架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8C6DD-C7F2-42D4-AC03-037E75B4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595BA-C2F1-4A5C-BF2D-2D089DFD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技術與管理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064B-3F4D-4E39-B82D-20A6CCC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43175"/>
            <a:ext cx="661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4F771-0933-42E7-9D13-A41A92B8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5747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品牌、設計、數位行銷、財務與營運輔導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854F6-355E-485E-952C-ADF25FB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2B54C-1F18-43FD-AB0D-2376A0A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員工參與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21C70-DE19-4493-9957-E7348FEC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24225"/>
            <a:ext cx="661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44B0F-352B-43C1-93E1-0B06584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385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企業志工、專案陪跑、職能工作坊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49E07-9F21-41AB-AF37-247ED9B5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6DED6-7D67-4D4A-B02E-9D730DF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影響力投資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4B40D-FAFD-42ED-A65A-06C5F32D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05275"/>
            <a:ext cx="661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B2254-8ED4-49CD-AD6C-A3659050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1957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支持具營運潛力的地方事業，而非一次性贊助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35C2D-8B58-4694-862A-84143899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D9A49-1BEB-4937-8C31-6164755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成效揭露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F9676-DEC4-48F7-8296-3CCEC078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86325"/>
            <a:ext cx="661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848A5-958A-437B-AE5C-1372AD0D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006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共同建立可追蹤的地方影響力指標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AC209-BFB3-44C5-B1FF-5D95FF1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19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從捐款與活動贊助，轉向市場、技術、管理、供應鏈與資料能力的長期投入。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47A56-BD42-4948-946E-B5C13D5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C4458-31AA-4BF4-BFB1-28391D4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63890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34C54-6343-47D6-BD4E-CDC7A65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51DC5-BB18-42FB-A9D4-A51B6DB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02F8C-4A0E-43C5-A1D3-A7A70EB0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C76EF-E16B-47CC-A609-A1222421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9030-81D4-44E7-8E39-7421928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ACADEMIC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F8BC6-4AF0-438B-A92C-7B89FFDB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學術界的價值，是把經驗變成知識，把成果變成證據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0989A-9663-4045-B997-19BD0849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277C1-5FF8-44C6-B9E2-87E82C0F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762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25F02-8C9D-4896-A190-3731F3F5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田野資料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03C6B-A931-48D0-BFAB-E410C332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地方故事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產業脈絡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居民需求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8BECE-F2BC-4715-9853-10F1F0F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D5D5A-4144-4810-8866-A38588B5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38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0E40E-F59E-4691-A46D-A760C021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A8AEC-84B8-4340-A84E-2269CEB9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762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001D6-1802-4AEE-8A94-5D3580D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95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個案研究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1B860-5AF2-483B-8DE6-3B3E54F8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289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鄉鎮比較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治理流程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成功條件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DAB3E-0BDF-4F90-A783-4675EAD1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BDC6-1A6C-4F97-B6A4-B3D9186A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38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272A0-54A0-4B8C-B4BA-E5EAD9C2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D7871-5F66-44D8-B0AF-86D8E469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1762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A794A-6780-4F22-B458-40B4B53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成效指標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3FE14-543D-4BBA-A694-16B8963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人口、產業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參與、營運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社會影響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E3DEFA-36B3-4400-8B55-FDAB590C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BA3C9-3F76-423D-B7FF-FBE0709D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38475"/>
            <a:ext cx="11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BD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9CDF8-F8D8-4558-81C7-A8CFF0B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8D61C-35D2-4071-A518-A10B2D4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1762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366EC-11DA-464B-98D0-2F330193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政策學習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AE6DF-98C3-46A6-A67C-475F3899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方法沉澱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模型複製</a:t>
            </a:r>
          </a:p>
          <a:p xmlns:a="http://schemas.openxmlformats.org/drawingml/2006/main">
            <a:pPr algn="ctr">
              <a:def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制度調整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F7864A-3B55-4AC1-B986-42484B56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地方創生不能只靠熱情與活動照片；需要學術界協助建立可比較、可追蹤、可討論的方法。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C8B2B-A95F-4F8A-83B2-6FF4B77C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88D83-C95F-4244-A944-4BF84819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92354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DC6CB-B5EB-494C-8439-2805EC29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972F6-FEBE-4A83-8094-F2FCEBB6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2A002-2B62-43EB-8B69-B58C9988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2956E-0D0B-409D-94E4-9E6068B1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B413D-8FDB-4638-A88E-91836F5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CHALLENGES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0417D-05F1-4ADA-BA06-A7204FC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下一階段的挑戰，是讓創生不只成功申請，更能持續營運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3A204-A21C-4FB8-AD5B-D278720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E838F-8EB2-4D1A-B22F-E22A125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8595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065F8-06B1-4AEF-B16A-DE0BAE4D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09750"/>
            <a:ext cx="804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A12B4-7189-4CBA-825A-DE5DE2E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954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補助結束後，地方團隊如何維持營運？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4EEDC-8689-457E-8560-E4508ED7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D6012-F5A8-43AB-B1D9-8A48BB8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985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5EE1E-4B61-479D-874C-3E1DD3DB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33650"/>
            <a:ext cx="804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C3734-466F-4B80-B07F-B9F5D55D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193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資源如何避免集中於少數熱區？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BDB70-53EF-49C2-90A6-A40225E7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32762-1D2F-4C6E-9705-BFADA498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35905-72BD-4CBC-B63F-2A0D8D91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804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278F7-A5BF-4DB8-B1BF-F116891D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432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地方故事如何走向商品、服務與體驗經濟？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268F9-6488-465C-B795-638A6842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CFCD5-2B3A-4C13-9FB2-AA7EC84A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7994E-135B-4F3C-9BD0-19E67315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804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1A531-D6B2-4559-B883-C55AE0A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671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企業 ESG 如何從一次性活動轉為長期合作？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DC5FF-BF62-4212-A23F-BA166F5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F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54D94-099D-428D-BA0A-31DE8305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9F154-A1C5-48BD-9982-6DF73050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804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A52E3-50BF-4C22-8AB6-3B5EAF11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910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縣府如何建立資料庫、指標與跨局處制度？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15F81-8C65-4863-A64A-876B89B5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1E717-F107-4792-A086-CA1DC9F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20616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279FA-46EE-46B3-9429-4A1C429B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7E473-AED6-4EFB-A1C4-2694E377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7C729-95DD-4055-BF7B-6434A481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7CF66-B075-4769-AB2E-5CA0E43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23C06-192B-4AB8-B588-C56BAB7C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F6B4F"/>
                </a:solidFill>
                <a:latin typeface="PingFang TC"/>
                <a:ea typeface="PingFang TC"/>
                <a:cs typeface="PingFang TC"/>
              </a:rPr>
              <a:t>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400C9-0A1F-422C-B5A7-8B768F98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從補助成功，走向新竹縣地方創生生態系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CC794-5FB4-490E-BCF1-3B49F7C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0919B-BDEE-436F-A8C0-97936BF6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短期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67F4B-0F65-4C23-BB00-4ED38A4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47875"/>
            <a:ext cx="7096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5191D-7A83-4EA2-B1F4-BC1C5788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建立完整地方創生資料庫、團隊盤點、案例地圖與輔導紀錄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06DA3-16D8-43CE-818F-F1146E70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471FC-4B38-4143-B585-3D40425D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中期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23639-D3DF-4A5F-83B6-2F9EF50D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71825"/>
            <a:ext cx="7096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DB55E-8AC1-4872-88F4-2294396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47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推動企業 ESG 媒合平台，讓企業資源進入地方產業與公共空間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8B01C-4204-4C48-8660-C2379139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77745-4770-4726-BD8D-CDE9BFFD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長期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A4535-8033-4FFE-A972-D31E1F51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95775"/>
            <a:ext cx="7096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CABD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48E74-8D1F-47F5-A848-F859187B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38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形成以地方品牌、青年人才、產業營運與公共治理為核心的創生生態系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D38D8-F505-436C-B6B0-8067596F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00700"/>
            <a:ext cx="881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302B"/>
                </a:solidFill>
                <a:latin typeface="PingFang TC"/>
                <a:ea typeface="PingFang TC"/>
                <a:cs typeface="PingFang TC"/>
              </a:rPr>
              <a:t>讓每個鄉鎮都能從自己的文化、產業與生活條件出發，找到面向未來的發展路徑。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56080-EC0F-4E77-974E-CB5356E6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defRPr>
            </a:pPr>
            <a:r>
              <a:rPr sz="713" b="0">
                <a:solidFill>
                  <a:srgbClr val="756F61"/>
                </a:solidFill>
                <a:latin typeface="PingFang TC"/>
                <a:ea typeface="PingFang TC"/>
                <a:cs typeface="PingFang TC"/>
              </a:rPr>
              <a:t>資料來源：新竹縣地方創生輔導案專案資料、108-115 案例地圖整理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EF2A0-6980-4570-A3C7-5549A45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B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B4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837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2026-05-26T23:51:29.1960000Z</dcterms:created>
  <dcterms:modified xsi:type="dcterms:W3CDTF">2026-05-26T23:51:29.1960000Z</dcterms:modified>
</coreProperties>
</file>