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76f21cc754ed1" /><Relationship Type="http://schemas.openxmlformats.org/officeDocument/2006/relationships/extended-properties" Target="/docProps/app.xml" Id="R27afe1a6a59f4f93" /><Relationship Type="http://schemas.openxmlformats.org/officeDocument/2006/relationships/officeDocument" Target="/ppt/presentation.xml" Id="Rc60a4b5ddc36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728a60779841fe"/>
  </p:sldMasterIdLst>
  <p:notesMasterIdLst>
    <p:notesMasterId xmlns:r="http://schemas.openxmlformats.org/officeDocument/2006/relationships" r:id="Rd3b2a32fdac74adc"/>
  </p:notesMasterIdLst>
  <p:sldIdLst>
    <p:sldId xmlns:r="http://schemas.openxmlformats.org/officeDocument/2006/relationships" id="256" r:id="Re9a5da2ae64c4ee8"/>
    <p:sldId xmlns:r="http://schemas.openxmlformats.org/officeDocument/2006/relationships" id="257" r:id="R76fd161be4054e09"/>
    <p:sldId xmlns:r="http://schemas.openxmlformats.org/officeDocument/2006/relationships" id="258" r:id="R1295bfe411164710"/>
    <p:sldId xmlns:r="http://schemas.openxmlformats.org/officeDocument/2006/relationships" id="259" r:id="R1a9147b0fd77471e"/>
    <p:sldId xmlns:r="http://schemas.openxmlformats.org/officeDocument/2006/relationships" id="260" r:id="Re08e07eba8b6483a"/>
    <p:sldId xmlns:r="http://schemas.openxmlformats.org/officeDocument/2006/relationships" id="261" r:id="R90f39c057a3b4ba7"/>
    <p:sldId xmlns:r="http://schemas.openxmlformats.org/officeDocument/2006/relationships" id="262" r:id="R82b656496e6b4663"/>
    <p:sldId xmlns:r="http://schemas.openxmlformats.org/officeDocument/2006/relationships" id="263" r:id="Rb9883086c00f469b"/>
    <p:sldId xmlns:r="http://schemas.openxmlformats.org/officeDocument/2006/relationships" id="264" r:id="R4a390bf9b61e41f2"/>
    <p:sldId xmlns:r="http://schemas.openxmlformats.org/officeDocument/2006/relationships" id="265" r:id="R7bbda8586cb04d9e"/>
    <p:sldId xmlns:r="http://schemas.openxmlformats.org/officeDocument/2006/relationships" id="266" r:id="R34d64dd0cbc947c0"/>
    <p:sldId xmlns:r="http://schemas.openxmlformats.org/officeDocument/2006/relationships" id="267" r:id="Rd0c698292e404299"/>
    <p:sldId xmlns:r="http://schemas.openxmlformats.org/officeDocument/2006/relationships" id="268" r:id="R5b4f1292cf4e44cc"/>
    <p:sldId xmlns:r="http://schemas.openxmlformats.org/officeDocument/2006/relationships" id="269" r:id="Rc401bcdd493b4258"/>
    <p:sldId xmlns:r="http://schemas.openxmlformats.org/officeDocument/2006/relationships" id="270" r:id="Rd9e42b2b77274a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284ab9b7f44c3" /><Relationship Type="http://schemas.openxmlformats.org/officeDocument/2006/relationships/slideMaster" Target="/ppt/slideMasters/slideMaster1.xml" Id="R47728a60779841fe" /><Relationship Type="http://schemas.openxmlformats.org/officeDocument/2006/relationships/notesMaster" Target="/ppt/notesMasters/notesMaster1.xml" Id="Rd3b2a32fdac74adc" /><Relationship Type="http://schemas.openxmlformats.org/officeDocument/2006/relationships/presProps" Target="/ppt/presProps.xml" Id="R6b337625d05148e2" /><Relationship Type="http://schemas.openxmlformats.org/officeDocument/2006/relationships/tableStyles" Target="/ppt/tableStyles.xml" Id="R0a60b82642b142ff" /><Relationship Type="http://schemas.openxmlformats.org/officeDocument/2006/relationships/slide" Target="/ppt/slides/slide1.xml" Id="Re9a5da2ae64c4ee8" /><Relationship Type="http://schemas.openxmlformats.org/officeDocument/2006/relationships/slide" Target="/ppt/slides/slide2.xml" Id="R76fd161be4054e09" /><Relationship Type="http://schemas.openxmlformats.org/officeDocument/2006/relationships/slide" Target="/ppt/slides/slide3.xml" Id="R1295bfe411164710" /><Relationship Type="http://schemas.openxmlformats.org/officeDocument/2006/relationships/slide" Target="/ppt/slides/slide4.xml" Id="R1a9147b0fd77471e" /><Relationship Type="http://schemas.openxmlformats.org/officeDocument/2006/relationships/slide" Target="/ppt/slides/slide5.xml" Id="Re08e07eba8b6483a" /><Relationship Type="http://schemas.openxmlformats.org/officeDocument/2006/relationships/slide" Target="/ppt/slides/slide6.xml" Id="R90f39c057a3b4ba7" /><Relationship Type="http://schemas.openxmlformats.org/officeDocument/2006/relationships/slide" Target="/ppt/slides/slide7.xml" Id="R82b656496e6b4663" /><Relationship Type="http://schemas.openxmlformats.org/officeDocument/2006/relationships/slide" Target="/ppt/slides/slide8.xml" Id="Rb9883086c00f469b" /><Relationship Type="http://schemas.openxmlformats.org/officeDocument/2006/relationships/slide" Target="/ppt/slides/slide9.xml" Id="R4a390bf9b61e41f2" /><Relationship Type="http://schemas.openxmlformats.org/officeDocument/2006/relationships/slide" Target="/ppt/slides/slide10.xml" Id="R7bbda8586cb04d9e" /><Relationship Type="http://schemas.openxmlformats.org/officeDocument/2006/relationships/slide" Target="/ppt/slides/slide11.xml" Id="R34d64dd0cbc947c0" /><Relationship Type="http://schemas.openxmlformats.org/officeDocument/2006/relationships/slide" Target="/ppt/slides/slide12.xml" Id="Rd0c698292e404299" /><Relationship Type="http://schemas.openxmlformats.org/officeDocument/2006/relationships/slide" Target="/ppt/slides/slide13.xml" Id="R5b4f1292cf4e44cc" /><Relationship Type="http://schemas.openxmlformats.org/officeDocument/2006/relationships/slide" Target="/ppt/slides/slide14.xml" Id="Rc401bcdd493b4258" /><Relationship Type="http://schemas.openxmlformats.org/officeDocument/2006/relationships/slide" Target="/ppt/slides/slide15.xml" Id="Rd9e42b2b77274a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69c58b9d3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f02054fce4634" /><Relationship Type="http://schemas.openxmlformats.org/officeDocument/2006/relationships/notesMaster" Target="/ppt/notesMasters/notesMaster1.xml" Id="R2c6743aafa0d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60671222d64ae6" /><Relationship Type="http://schemas.openxmlformats.org/officeDocument/2006/relationships/notesMaster" Target="/ppt/notesMasters/notesMaster1.xml" Id="R4b9bcef946c540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2c4f80d4d462c" /><Relationship Type="http://schemas.openxmlformats.org/officeDocument/2006/relationships/notesMaster" Target="/ppt/notesMasters/notesMaster1.xml" Id="Rfa184bd6ece8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26ff22afa4934" /><Relationship Type="http://schemas.openxmlformats.org/officeDocument/2006/relationships/notesMaster" Target="/ppt/notesMasters/notesMaster1.xml" Id="R73f7bf0223c442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eeb913bcca4a4f" /><Relationship Type="http://schemas.openxmlformats.org/officeDocument/2006/relationships/notesMaster" Target="/ppt/notesMasters/notesMaster1.xml" Id="R377bdc25366a4c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2b89ee06543a7" /><Relationship Type="http://schemas.openxmlformats.org/officeDocument/2006/relationships/notesMaster" Target="/ppt/notesMasters/notesMaster1.xml" Id="Re2aa4fa96a4c4b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5883d760a4ae6" /><Relationship Type="http://schemas.openxmlformats.org/officeDocument/2006/relationships/notesMaster" Target="/ppt/notesMasters/notesMaster1.xml" Id="Rc4087ceb30a149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49a56f10c4798" /><Relationship Type="http://schemas.openxmlformats.org/officeDocument/2006/relationships/notesMaster" Target="/ppt/notesMasters/notesMaster1.xml" Id="R7e8652a93ca345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bb3d6ca3c34d5f" /><Relationship Type="http://schemas.openxmlformats.org/officeDocument/2006/relationships/notesMaster" Target="/ppt/notesMasters/notesMaster1.xml" Id="R214157e13944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b67203b284ac1" /><Relationship Type="http://schemas.openxmlformats.org/officeDocument/2006/relationships/notesMaster" Target="/ppt/notesMasters/notesMaster1.xml" Id="R766b30c4fd73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71e933724949a4" /><Relationship Type="http://schemas.openxmlformats.org/officeDocument/2006/relationships/notesMaster" Target="/ppt/notesMasters/notesMaster1.xml" Id="R74a1c20b10c049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76a95c2c3e448b" /><Relationship Type="http://schemas.openxmlformats.org/officeDocument/2006/relationships/notesMaster" Target="/ppt/notesMasters/notesMaster1.xml" Id="R5f13882fd25a4d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f69b5cd4fc41bb" /><Relationship Type="http://schemas.openxmlformats.org/officeDocument/2006/relationships/notesMaster" Target="/ppt/notesMasters/notesMaster1.xml" Id="R6f43f34c1fcd4c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335dbf4a3148cc" /><Relationship Type="http://schemas.openxmlformats.org/officeDocument/2006/relationships/notesMaster" Target="/ppt/notesMasters/notesMaster1.xml" Id="Ra2bd968568ab4a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5c23639d6f41d7" /><Relationship Type="http://schemas.openxmlformats.org/officeDocument/2006/relationships/notesMaster" Target="/ppt/notesMasters/notesMaster1.xml" Id="Rca184dcc013f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8e8e0c21c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0735066fdd49a5" /><Relationship Type="http://schemas.openxmlformats.org/officeDocument/2006/relationships/slideLayout" Target="/ppt/slideLayouts/slideLayout1.xml" Id="R900f2a1b1d00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f2a1b1d00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5f2d37f2c4d0d" /><Relationship Type="http://schemas.openxmlformats.org/officeDocument/2006/relationships/image" Target="/ppt/media/image.jpeg" Id="R4fb4cce374e24941" /><Relationship Type="http://schemas.openxmlformats.org/officeDocument/2006/relationships/notesSlide" Target="/ppt/notesSlides/notesSlide1.xml" Id="R1e5a03e9daa4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019004314c62" /><Relationship Type="http://schemas.openxmlformats.org/officeDocument/2006/relationships/notesSlide" Target="/ppt/notesSlides/notesSlide2.xml" Id="R1c818b91f3e243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1c99fce24eb3" /><Relationship Type="http://schemas.openxmlformats.org/officeDocument/2006/relationships/notesSlide" Target="/ppt/notesSlides/notesSlide3.xml" Id="R99ced8ffcf8b4c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e22435da4d07" /><Relationship Type="http://schemas.openxmlformats.org/officeDocument/2006/relationships/notesSlide" Target="/ppt/notesSlides/notesSlide4.xml" Id="Rf10890874e47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04c5d5b324f06" /><Relationship Type="http://schemas.openxmlformats.org/officeDocument/2006/relationships/image" Target="/ppt/media/image.png" Id="Ra2ed2bdf113b4604" /><Relationship Type="http://schemas.openxmlformats.org/officeDocument/2006/relationships/notesSlide" Target="/ppt/notesSlides/notesSlide5.xml" Id="R94b3fe6f0e8042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1d3108e7148be" /><Relationship Type="http://schemas.openxmlformats.org/officeDocument/2006/relationships/notesSlide" Target="/ppt/notesSlides/notesSlide6.xml" Id="R535ef4484d3f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f2c6f7b334b1f" /><Relationship Type="http://schemas.openxmlformats.org/officeDocument/2006/relationships/image" Target="/ppt/media/image2.jpeg" Id="Rb07eb49aaee348b7" /><Relationship Type="http://schemas.openxmlformats.org/officeDocument/2006/relationships/notesSlide" Target="/ppt/notesSlides/notesSlide7.xml" Id="R9e9b7b5b182844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7a78fe1484e1e" /><Relationship Type="http://schemas.openxmlformats.org/officeDocument/2006/relationships/notesSlide" Target="/ppt/notesSlides/notesSlide8.xml" Id="Ra37509119227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36defee74b53" /><Relationship Type="http://schemas.openxmlformats.org/officeDocument/2006/relationships/notesSlide" Target="/ppt/notesSlides/notesSlide9.xml" Id="R9c66bdbadcad46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1a72cd26f4519" /><Relationship Type="http://schemas.openxmlformats.org/officeDocument/2006/relationships/notesSlide" Target="/ppt/notesSlides/notesSlide10.xml" Id="R8667d78896334d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d3e89b934f7a" /><Relationship Type="http://schemas.openxmlformats.org/officeDocument/2006/relationships/notesSlide" Target="/ppt/notesSlides/notesSlide11.xml" Id="R7259ddba5b864b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fe38f9b24505" /><Relationship Type="http://schemas.openxmlformats.org/officeDocument/2006/relationships/notesSlide" Target="/ppt/notesSlides/notesSlide12.xml" Id="R3009e584a7af46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f1c3a03e4474" /><Relationship Type="http://schemas.openxmlformats.org/officeDocument/2006/relationships/notesSlide" Target="/ppt/notesSlides/notesSlide13.xml" Id="R672b8a8bdf4c44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365032bc24d8c" /><Relationship Type="http://schemas.openxmlformats.org/officeDocument/2006/relationships/notesSlide" Target="/ppt/notesSlides/notesSlide14.xml" Id="R130b7f912f0449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ae5cfa4f34347" /><Relationship Type="http://schemas.openxmlformats.org/officeDocument/2006/relationships/notesSlide" Target="/ppt/notesSlides/notesSlide15.xml" Id="R56c2f7e36f6242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4cce374e24941"/>
          <a:srcRect xmlns:a="http://schemas.openxmlformats.org/drawingml/2006/main" l="20831" t="0" r="20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DA4D4-B4FA-4185-9DBE-4AAC77D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238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947D-F1B2-4670-8349-7B97D306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從補助到共創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4E9F6-E55E-4EFB-B475-8DEB0E1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8E6FF"/>
                </a:solidFill>
              </a:defRPr>
            </a:pPr>
            <a:r>
              <a:rPr sz="3150" b="1">
                <a:solidFill>
                  <a:srgbClr val="A8E6FF"/>
                </a:solidFill>
              </a:rPr>
              <a:t>新竹縣地方創生的下一階段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6054B-F553-4FA2-A5D9-9F3E4546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D0D5"/>
                </a:solidFill>
              </a:defRPr>
            </a:pPr>
            <a:r>
              <a:rPr sz="1725" b="0">
                <a:solidFill>
                  <a:srgbClr val="D0D0D5"/>
                </a:solidFill>
              </a:rPr>
              <a:t>地方產業 × 企業 ESG × 公共治理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DBEC0-F53A-43A8-AE43-1AC7D1C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8E93"/>
                </a:solidFill>
              </a:defRPr>
            </a:pPr>
            <a:r>
              <a:rPr sz="1200" b="0">
                <a:solidFill>
                  <a:srgbClr val="8E8E93"/>
                </a:solidFill>
              </a:rPr>
              <a:t>新竹縣政府行政處｜學術論壇專題分享</a:t>
            </a:r>
          </a:p>
        </p:txBody>
      </p:sp>
    </p:spTree>
    <p:extLst>
      <p:ext uri="{BB962C8B-B14F-4D97-AF65-F5344CB8AC3E}">
        <p14:creationId xmlns:p14="http://schemas.microsoft.com/office/powerpoint/2010/main" val="1197399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D6A9F3-709B-460F-AC8C-1D50553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2CF70-733E-4080-A616-5324DE70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我們真正要回答的問題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9ED41-D3CE-4AE2-A1D9-F4AA9DC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補助通過之後，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CCDD3-85A8-4653-9FD1-18F61EF2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71E3"/>
                </a:solidFill>
              </a:defRPr>
            </a:pPr>
            <a:r>
              <a:rPr sz="4200" b="1">
                <a:solidFill>
                  <a:srgbClr val="0071E3"/>
                </a:solidFill>
              </a:rPr>
              <a:t>地方留下了什麼？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E6826-5DBC-4015-88DC-C8C4616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青年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F4EC6-6169-4BD8-A695-FBB90EA4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能留下來嗎？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F79F1-C1A1-4E6A-B749-CF4EDEE5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62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空間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4733E-A748-4EE9-BA78-B05A4D2F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91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能持續使用嗎？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DBE27-9134-40EA-8855-7B911FF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產業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D3305-19A1-4D65-9479-C628D4E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能形成收入嗎？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F2BC-9CFA-4890-ABE5-4D1EA7C1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62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治理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5FA8A-B1EE-46CA-BF95-9D5ACBB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91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能累積方法嗎？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1C8EE-7C5D-4C47-80F1-BE484FC7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02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1946637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07DCC-C682-4743-9249-50B6557A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F407-B7A6-4A40-BA38-9423855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地方創生是縣域治理的整合題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7C8C-C383-4F33-ACB3-8F1A9BA1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</a:defRPr>
            </a:pPr>
            <a:r>
              <a:rPr sz="3450" b="1">
                <a:solidFill>
                  <a:srgbClr val="1D1D1F"/>
                </a:solidFill>
              </a:rPr>
              <a:t>新竹，不只有科技廊帶。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5F9E0-2B24-4D1F-845D-9B9B2C5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71A21-0F4C-428C-9C6D-D57C9EF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</a:defRPr>
            </a:pPr>
            <a:r>
              <a:rPr sz="2400" b="1">
                <a:solidFill>
                  <a:srgbClr val="0071E3"/>
                </a:solidFill>
              </a:rPr>
              <a:t>科技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E318-D90F-4B85-92AB-0061435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全球產業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BBB99-4B41-4D25-B216-6DBEBE2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1AB8D-A215-43DC-83BB-55F5D84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7738"/>
                </a:solidFill>
              </a:defRPr>
            </a:pPr>
            <a:r>
              <a:rPr sz="2400" b="1">
                <a:solidFill>
                  <a:srgbClr val="D97738"/>
                </a:solidFill>
              </a:rPr>
              <a:t>客庄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48A7A-8907-4439-B4A8-F4593162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文化根系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6D487-E83A-4935-A196-E3F0AAE4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2F2F-A82F-45FA-A70E-60EE4DEB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A6B56"/>
                </a:solidFill>
              </a:defRPr>
            </a:pPr>
            <a:r>
              <a:rPr sz="2400" b="1">
                <a:solidFill>
                  <a:srgbClr val="3A6B56"/>
                </a:solidFill>
              </a:rPr>
              <a:t>山線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B7AC1-A24A-4C00-88A2-85F253B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聚落生活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8A7C-8940-416B-92D8-9D2C92E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1C752-3F93-4251-B269-CE3D134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A999"/>
                </a:solidFill>
              </a:defRPr>
            </a:pPr>
            <a:r>
              <a:rPr sz="2400" b="1">
                <a:solidFill>
                  <a:srgbClr val="18A999"/>
                </a:solidFill>
              </a:rPr>
              <a:t>農漁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1D407-CCD9-42DB-90B3-146D0D51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地方產業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B727F-0A58-46F3-AA40-C18DE8FB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952625" cy="2095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C3FBF-A9C6-4DDB-80E2-D9BA2EE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C5CE7"/>
                </a:solidFill>
              </a:defRPr>
            </a:pPr>
            <a:r>
              <a:rPr sz="2400" b="1">
                <a:solidFill>
                  <a:srgbClr val="7C5CE7"/>
                </a:solidFill>
              </a:rPr>
              <a:t>青年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E3BE5-8FB4-4102-93F1-24593A2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未來選擇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672A3-6AF7-46EE-93D6-C2D615A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地方創生的工作，是把這些條件重新連接。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9F948-E625-47A2-9B87-DF87531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03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252103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DA95B-7E2F-43C1-AD2F-57E651F8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585AC-F9C2-4F44-AEB2-663548F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108–115 年累積成果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00FBD-F6E7-433A-9B6F-31EEADF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0" b="1">
                <a:solidFill>
                  <a:srgbClr val="FFFFFF"/>
                </a:solidFill>
              </a:defRPr>
            </a:pPr>
            <a:r>
              <a:rPr sz="1275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1D265-DF23-4B2E-B88E-B40C4D9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件通過補助案件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165B9-3C3C-4414-B314-F7F6C0F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8E93"/>
                </a:solidFill>
              </a:defRPr>
            </a:pPr>
            <a:r>
              <a:rPr sz="1275" b="0">
                <a:solidFill>
                  <a:srgbClr val="8E8E93"/>
                </a:solidFill>
              </a:rPr>
              <a:t>不含新竹市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3B29E-7A20-4249-AA86-EC334046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666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1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3D964-5C76-41D9-8597-25DB472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44CA-6DA1-4AF7-B1B5-5F33097A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6"/>
                </a:solidFill>
              </a:defRPr>
            </a:pPr>
            <a:r>
              <a:rPr sz="1200" b="0">
                <a:solidFill>
                  <a:srgbClr val="A1A1A6"/>
                </a:solidFill>
              </a:rPr>
              <a:t>110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FA20F-4682-4F79-AC9B-4130C290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33800"/>
            <a:ext cx="666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13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D09F6-C5AF-401D-8960-9C9FEF31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BDA99-D7E1-4F1B-BFB0-D90A1DEF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6"/>
                </a:solidFill>
              </a:defRPr>
            </a:pPr>
            <a:r>
              <a:rPr sz="1200" b="0">
                <a:solidFill>
                  <a:srgbClr val="A1A1A6"/>
                </a:solidFill>
              </a:rPr>
              <a:t>112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1422B-7D74-487F-8A56-15049E5F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666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13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67BEC-4410-4879-8B51-7F9EDC6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39994-A770-42EC-B586-E476544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6"/>
                </a:solidFill>
              </a:defRPr>
            </a:pPr>
            <a:r>
              <a:rPr sz="1200" b="0">
                <a:solidFill>
                  <a:srgbClr val="A1A1A6"/>
                </a:solidFill>
              </a:rPr>
              <a:t>113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9D5DC-AFF4-4E94-9467-BE0340BF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67200"/>
            <a:ext cx="66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13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21688-CED0-4FBC-9E44-DAC1D5F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86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67ABE-764F-49D3-B163-28483A9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6"/>
                </a:solidFill>
              </a:defRPr>
            </a:pPr>
            <a:r>
              <a:rPr sz="1200" b="0">
                <a:solidFill>
                  <a:srgbClr val="A1A1A6"/>
                </a:solidFill>
              </a:rPr>
              <a:t>114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89C3F-9DC7-4D8E-BA95-106D918B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666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4C4F6-2C54-48C4-9CA7-F69DE09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7A935-E710-4700-9D63-DB2BDB54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6"/>
                </a:solidFill>
              </a:defRPr>
            </a:pPr>
            <a:r>
              <a:rPr sz="1200" b="0">
                <a:solidFill>
                  <a:srgbClr val="A1A1A6"/>
                </a:solidFill>
              </a:rPr>
              <a:t>115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18B1E-B29A-402E-9127-2D60CEA1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531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E6FF"/>
                </a:solidFill>
              </a:defRPr>
            </a:pPr>
            <a:r>
              <a:rPr sz="1650" b="1">
                <a:solidFill>
                  <a:srgbClr val="A8E6FF"/>
                </a:solidFill>
              </a:rPr>
              <a:t>115 年達歷年最高</a:t>
            </a:r>
          </a:p>
        </p:txBody>
      </p:sp>
    </p:spTree>
    <p:extLst>
      <p:ext uri="{BB962C8B-B14F-4D97-AF65-F5344CB8AC3E}">
        <p14:creationId xmlns:p14="http://schemas.microsoft.com/office/powerpoint/2010/main" val="734986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08EB8-FD79-45E1-9717-D02773D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AC4E5-4F17-4B9C-82EE-E8BF850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成果不是散點，而是逐漸形成地方路徑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d2bdf113b4604"/>
          <a:stretch xmlns:a="http://schemas.openxmlformats.org/drawingml/2006/main"/>
        </p:blipFill>
        <p:spPr>
          <a:xfrm xmlns:a="http://schemas.openxmlformats.org/drawingml/2006/main">
            <a:off x="428625" y="1206500"/>
            <a:ext cx="7239000" cy="4826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FC776-E6A7-41AD-8A34-33F13D7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</a:defRPr>
            </a:pPr>
            <a:r>
              <a:rPr sz="2025" b="1">
                <a:solidFill>
                  <a:srgbClr val="0071E3"/>
                </a:solidFill>
              </a:rPr>
              <a:t>芎林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15E49-3076-43EA-BFB4-9E513B8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連續累積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C2AD-F288-4BFF-990A-78AFD519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A999"/>
                </a:solidFill>
              </a:defRPr>
            </a:pPr>
            <a:r>
              <a:rPr sz="2025" b="1">
                <a:solidFill>
                  <a:srgbClr val="18A999"/>
                </a:solidFill>
              </a:rPr>
              <a:t>橫山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68C76-A092-489F-9CCC-074D317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多元類型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E25E5-9927-4D7D-9EBA-7FC456D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38"/>
                </a:solidFill>
              </a:defRPr>
            </a:pPr>
            <a:r>
              <a:rPr sz="2025" b="1">
                <a:solidFill>
                  <a:srgbClr val="D97738"/>
                </a:solidFill>
              </a:rPr>
              <a:t>峨眉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EDB1C-E12D-493F-A381-25DB95D4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路徑布局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1C856-A5C1-4DD2-B24A-1E61B2F5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86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B56"/>
                </a:solidFill>
              </a:defRPr>
            </a:pPr>
            <a:r>
              <a:rPr sz="2025" b="1">
                <a:solidFill>
                  <a:srgbClr val="3A6B56"/>
                </a:solidFill>
              </a:rPr>
              <a:t>新埔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D15FD-6C49-4A17-A4F9-611B0F7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文化深耕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F7746-5792-4F2C-A830-E3004A4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81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</a:defRPr>
            </a:pPr>
            <a:r>
              <a:rPr sz="1875" b="1">
                <a:solidFill>
                  <a:srgbClr val="1D1D1F"/>
                </a:solidFill>
              </a:rPr>
              <a:t>治理不能只用同一套模板。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35849-CD3D-43EB-8871-B762D0C5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05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1967009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861B4E-C594-4800-BD80-A3C92465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2D4F8-329B-40F2-BC30-C89C260B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縣府角色正在改變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7CAF5-5EB7-4A3B-8ED0-BBDEBD6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E6E73"/>
                </a:solidFill>
              </a:defRPr>
            </a:pPr>
            <a:r>
              <a:rPr sz="3225" b="1">
                <a:solidFill>
                  <a:srgbClr val="6E6E73"/>
                </a:solidFill>
              </a:rPr>
              <a:t>不是替地方寫案子。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A8540-29B2-4955-A201-51776C7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是把案子、人才、資源與制度接起來。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E6F60-449E-4F0C-9975-16208BDD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429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9D7D-93DC-495B-A915-66B1CB4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</a:defRPr>
            </a:pPr>
            <a:r>
              <a:rPr sz="2400" b="1">
                <a:solidFill>
                  <a:srgbClr val="0071E3"/>
                </a:solidFill>
              </a:rPr>
              <a:t>縣級輔導平台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EA40-817B-4B1F-82AA-ABE1405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B5AEA-9839-45B6-B914-F6E62EC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地方團隊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33E3E-018E-4048-83F8-847C6FA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190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B8434-B3E0-449F-89E8-1C0582A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專家顧問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0F7D8-499C-4A37-A02A-CBF8A75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2190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8A356-2DE8-4939-B34C-C2B0593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企業資源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20C76-BB2E-45DF-917D-FBB4352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2190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8EBAC-3A55-4225-A4C6-07217EE6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學術研究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8AFF5-7AD0-473B-B525-CA58FF3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06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329797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eb49aaee348b7"/>
          <a:srcRect xmlns:a="http://schemas.openxmlformats.org/drawingml/2006/main" l="0" t="7816" r="0" b="7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183BE-2D0C-4484-AD1D-A9A648C8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47AE4-88C1-4C25-B32F-9E64579D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陪伴的價值，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A021C-5B89-4C7F-82EF-533F22C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A8E6FF"/>
                </a:solidFill>
              </a:defRPr>
            </a:pPr>
            <a:r>
              <a:rPr sz="3900" b="1">
                <a:solidFill>
                  <a:srgbClr val="A8E6FF"/>
                </a:solidFill>
              </a:rPr>
              <a:t>是讓地方從提案走向營運。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3DFC4-74E4-4E43-A549-964C5B6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工作會議  ·  輔導訪視  ·  資料提交  ·  成果管理  ·  社群溝通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0FE90-E6B0-4000-8309-D9935A01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436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C7CC"/>
                </a:solidFill>
              </a:defRPr>
            </a:pPr>
            <a:r>
              <a:rPr sz="900" b="0">
                <a:solidFill>
                  <a:srgbClr val="C7C7CC"/>
                </a:solidFill>
              </a:rPr>
              <a:t>圖片：新竹縣政府，114年社區規劃師計畫說明會</a:t>
            </a:r>
          </a:p>
        </p:txBody>
      </p:sp>
    </p:spTree>
    <p:extLst>
      <p:ext uri="{BB962C8B-B14F-4D97-AF65-F5344CB8AC3E}">
        <p14:creationId xmlns:p14="http://schemas.microsoft.com/office/powerpoint/2010/main" val="326581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CFC55-4E34-41E7-8D89-82E3A0A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BD8F5-451F-401A-97EE-CEE1A9EA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案例｜新豐公有空間活化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500D1-AB43-4B93-B5C7-2347B69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D1D1F"/>
                </a:solidFill>
              </a:defRPr>
            </a:pPr>
            <a:r>
              <a:rPr sz="3375" b="1">
                <a:solidFill>
                  <a:srgbClr val="1D1D1F"/>
                </a:solidFill>
              </a:rPr>
              <a:t>一個空間，如何長成地方基礎設施？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5EDD7-0700-477B-9ECC-208D8CE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D247C-8A66-49BD-8010-3DFCDBE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空間活化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F3B64-C184-4968-90E7-B855881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90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3518A-E120-4E9A-873F-5C1871B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E5044-DBF8-49E2-A9C6-A4A7EF5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青年進駐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E93AF-7BEB-4C96-9B18-740205E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90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96FAE-A8F0-4849-BC08-C32C7B7B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933E4-A57D-4EF4-A9F5-F4B0282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95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產業導入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4B2D6-58BF-4A64-B49E-3925E0F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90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74024-8277-4501-8445-602B3B6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39B2-89A5-45D0-865D-B63E8CB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95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社群聚集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7C3E4-EE83-4AF3-82D0-02D4FAD9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90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D2D7"/>
                </a:solidFill>
              </a:defRPr>
            </a:pPr>
            <a:r>
              <a:rPr sz="1875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16AA7-1716-4A57-9B9A-73D480F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5750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13ED7-1067-4FE1-B452-602538C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95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1D1F"/>
                </a:solidFill>
              </a:defRPr>
            </a:pPr>
            <a:r>
              <a:rPr sz="1725" b="1">
                <a:solidFill>
                  <a:srgbClr val="1D1D1F"/>
                </a:solidFill>
              </a:rPr>
              <a:t>品牌形成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841C4-1487-4EB1-8F55-92DC51FB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新庄子公有零售市場 2 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9A8A0-C0EF-49EF-8AEB-B481606E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7738"/>
                </a:solidFill>
              </a:defRPr>
            </a:pPr>
            <a:r>
              <a:rPr sz="3000" b="1">
                <a:solidFill>
                  <a:srgbClr val="D97738"/>
                </a:solidFill>
              </a:rPr>
              <a:t>150 萬元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06831-F82D-4440-99A4-78BB8B67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E6E73"/>
                </a:solidFill>
              </a:defRPr>
            </a:pPr>
            <a:r>
              <a:rPr sz="1500" b="1">
                <a:solidFill>
                  <a:srgbClr val="6E6E73"/>
                </a:solidFill>
              </a:rPr>
              <a:t>115/6/1–12/30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1EEA4-7E82-4A2B-8C1D-D6783E8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從被動管理成本，轉為青年、產業與社群的共同平台。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F83BC-D123-4E64-AEEC-0DA6A54C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08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566285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F7643-8FED-45E9-AAF9-8DA5C67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F5DCD-F8CE-48D3-AE45-4B6F533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下一個資源介面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FF840-136C-4FDA-926C-E139EB0E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ESG，不只是捐款。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B3A1F-2ADA-4725-80B8-F253501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8E6FF"/>
                </a:solidFill>
              </a:defRPr>
            </a:pPr>
            <a:r>
              <a:rPr sz="2775" b="1">
                <a:solidFill>
                  <a:srgbClr val="A8E6FF"/>
                </a:solidFill>
              </a:rPr>
              <a:t>它可以成為地方產業的長期能力。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092A9-21ED-4CE9-91DC-192064D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C17A-4D10-4DA4-B0F5-8D2FCCB2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A999"/>
                </a:solidFill>
              </a:defRPr>
            </a:pPr>
            <a:r>
              <a:rPr sz="4350" b="1">
                <a:solidFill>
                  <a:srgbClr val="18A999"/>
                </a:solidFill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C6A5E-12AF-4781-AF56-CB4A2A9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63FC6-E375-47E3-BCCB-89895E10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1A1A6"/>
                </a:solidFill>
              </a:defRPr>
            </a:pPr>
            <a:r>
              <a:rPr sz="1425" b="0">
                <a:solidFill>
                  <a:srgbClr val="A1A1A6"/>
                </a:solidFill>
              </a:rPr>
              <a:t>循環、低碳、農漁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1605C-60C1-46D7-B926-6560CA9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97827-086E-4F4F-A894-F43C6C23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7738"/>
                </a:solidFill>
              </a:defRPr>
            </a:pPr>
            <a:r>
              <a:rPr sz="4350" b="1">
                <a:solidFill>
                  <a:srgbClr val="D97738"/>
                </a:solidFill>
              </a:rPr>
              <a:t>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1C4AD-0273-4269-970D-B01F5465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社會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C2D9A-43B4-4E10-A67C-6358112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38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1A1A6"/>
                </a:solidFill>
              </a:defRPr>
            </a:pPr>
            <a:r>
              <a:rPr sz="1425" b="0">
                <a:solidFill>
                  <a:srgbClr val="A1A1A6"/>
                </a:solidFill>
              </a:rPr>
              <a:t>青年、文化、就業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8391B-C398-4DD1-BBDB-19F0F993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F74AD-CC9B-4502-8674-AF98BC52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71E3"/>
                </a:solidFill>
              </a:defRPr>
            </a:pPr>
            <a:r>
              <a:rPr sz="4350" b="1">
                <a:solidFill>
                  <a:srgbClr val="0071E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5BB6F-B388-4A93-87F3-F8019573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1B97D-C2CF-4D94-8D32-314E97B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1A1A6"/>
                </a:solidFill>
              </a:defRPr>
            </a:pPr>
            <a:r>
              <a:rPr sz="1425" b="0">
                <a:solidFill>
                  <a:srgbClr val="A1A1A6"/>
                </a:solidFill>
              </a:rPr>
              <a:t>資料、協作、追蹤</a:t>
            </a:r>
          </a:p>
        </p:txBody>
      </p:sp>
    </p:spTree>
    <p:extLst>
      <p:ext uri="{BB962C8B-B14F-4D97-AF65-F5344CB8AC3E}">
        <p14:creationId xmlns:p14="http://schemas.microsoft.com/office/powerpoint/2010/main" val="1474174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99E4D-8E19-40E6-9090-4EB9F238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B5DEC-84F4-4561-970D-7043785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企業最珍貴的，不一定是錢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4F73E-76C5-4D5A-8485-6A0D1428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D1D1F"/>
                </a:solidFill>
              </a:defRPr>
            </a:pPr>
            <a:r>
              <a:rPr sz="3375" b="1">
                <a:solidFill>
                  <a:srgbClr val="1D1D1F"/>
                </a:solidFill>
              </a:rPr>
              <a:t>把本業能力，放進地方成長。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E4712-B03B-457D-833E-861C88A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012E-F981-493D-B2F7-6C398E5D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採購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B389B-1B0E-43E5-8F9A-F06B149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市場入口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5858-31F7-4142-A522-A4074538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765D6-65A2-42FD-9361-6A5E0100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52F8C-D0C4-4735-9886-F50A26E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技術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3B77C-A0F6-4736-855A-46D857F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品牌與數位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624C7-816A-4255-8816-CCBB504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3ED72-1692-411A-BAE9-D89127A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7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A68FD-43C0-49CE-95D7-1A7CADC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員工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8EC3B-B2C5-4FC7-85A7-E431D84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職能陪跑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14C28-9574-495F-86A9-CF67414F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7675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3E106-F267-413B-B702-4B93E431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EA023-EEF5-45A1-B08D-39CFA96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投資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6E9D3-FA4E-4176-9F21-7C1E4C3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營運成長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CEB90-FBE2-4EA1-AC97-39064D11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B5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2C569-2B06-4AEB-90A5-7C18949F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55D38-3FE3-43C3-ABB0-C32C613F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揭露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23444-9A63-4746-B9EF-7C356B8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62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影響指標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841A7-1FA9-4232-A798-2012AD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26F01-2F26-4DE8-BA70-06BFEBA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29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6E73"/>
                </a:solidFill>
              </a:defRPr>
            </a:pPr>
            <a:r>
              <a:rPr sz="1650" b="1">
                <a:solidFill>
                  <a:srgbClr val="6E6E73"/>
                </a:solidFill>
              </a:rPr>
              <a:t>一次性贊助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BB60A-1EE3-4C2E-B238-F2E025B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2D2D7"/>
                </a:solidFill>
              </a:defRPr>
            </a:pPr>
            <a:r>
              <a:rPr sz="21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91EEA-E11A-4726-867D-BC81050F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1E3"/>
                </a:solidFill>
              </a:defRPr>
            </a:pPr>
            <a:r>
              <a:rPr sz="1875" b="1">
                <a:solidFill>
                  <a:srgbClr val="0071E3"/>
                </a:solidFill>
              </a:rPr>
              <a:t>長期合作機制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DB5FC1-96C0-42BA-9BB1-005984F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10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734992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BE44B-26A2-4C1C-9223-92AA522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94F40-C684-4998-9F6B-88937A0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學術界讓經驗成為證據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8428-C44C-478A-98FF-A2F7F53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E6E73"/>
                </a:solidFill>
              </a:defRPr>
            </a:pPr>
            <a:r>
              <a:rPr sz="3900" b="1">
                <a:solidFill>
                  <a:srgbClr val="6E6E73"/>
                </a:solidFill>
              </a:rPr>
              <a:t>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6F532-AA43-4B94-9AC2-97BA21E3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2D2D7"/>
                </a:solidFill>
              </a:defRPr>
            </a:pPr>
            <a:r>
              <a:rPr sz="27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88BB-C147-4D3E-940D-9D8C9C3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71E3"/>
                </a:solidFill>
              </a:defRPr>
            </a:pPr>
            <a:r>
              <a:rPr sz="3900" b="1">
                <a:solidFill>
                  <a:srgbClr val="0071E3"/>
                </a:solidFill>
              </a:rPr>
              <a:t>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91DFD-C723-40BA-BC87-B8F5DBFE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2D2D7"/>
                </a:solidFill>
              </a:defRPr>
            </a:pPr>
            <a:r>
              <a:rPr sz="27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16C7D-DA61-4B60-8E6D-1621C1D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8A999"/>
                </a:solidFill>
              </a:defRPr>
            </a:pPr>
            <a:r>
              <a:rPr sz="3900" b="1">
                <a:solidFill>
                  <a:srgbClr val="18A999"/>
                </a:solidFill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07861-88A3-40CA-8CEA-3D95FB7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71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2D2D7"/>
                </a:solidFill>
              </a:defRPr>
            </a:pPr>
            <a:r>
              <a:rPr sz="2700" b="1">
                <a:solidFill>
                  <a:srgbClr val="D2D2D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B3614-E49B-4296-9C1C-B9E9889E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政策學習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0DC43-F91F-4D70-B591-E58C6791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C96D1-63B6-469A-8024-1825FDD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人口與產業指標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9AE79-3EE2-4DAE-AB36-AFF9AF1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9245C-E0D2-42C5-8F49-4946F57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鄉鎮比較研究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B253A-1922-4315-9E3B-570FFF3A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BDC59-1EC6-439F-9A25-0F16107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田野與共同策展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46FBF-EABF-491D-B496-DBA0D2F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A76AC-709A-45A6-8D0C-E2567BCE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95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社會影響分析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F2744-BE52-421D-9758-93122AC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67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1D1F"/>
                </a:solidFill>
              </a:defRPr>
            </a:pPr>
            <a:r>
              <a:rPr sz="1950" b="1">
                <a:solidFill>
                  <a:srgbClr val="1D1D1F"/>
                </a:solidFill>
              </a:rPr>
              <a:t>地方創生不能只靠熱情，也不能只靠活動照片。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BE42E-65FF-4D15-BFA2-BCD88FC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11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5605787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55627-28DA-4C8C-9A27-36B1C90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89C54-2C56-4646-B650-B0910120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6"/>
                </a:solidFill>
              </a:defRPr>
            </a:pPr>
            <a:r>
              <a:rPr sz="1125" b="1">
                <a:solidFill>
                  <a:srgbClr val="A1A1A6"/>
                </a:solidFill>
              </a:rPr>
              <a:t>下一階段真正的挑戰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5184C-567F-4DDA-B4E2-A5574141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7777D"/>
                </a:solidFill>
              </a:defRPr>
            </a:pPr>
            <a:r>
              <a:rPr sz="4350" b="1">
                <a:solidFill>
                  <a:srgbClr val="77777D"/>
                </a:solidFill>
              </a:rPr>
              <a:t>有案子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371A-61B2-4611-AC2C-E9A44DC7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95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D97738"/>
                </a:solidFill>
              </a:defRPr>
            </a:pPr>
            <a:r>
              <a:rPr sz="4200" b="1">
                <a:solidFill>
                  <a:srgbClr val="D97738"/>
                </a:solidFill>
              </a:rPr>
              <a:t>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193CD-D285-41ED-BBA4-991F011D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953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能長期營運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BB8A4-608A-4376-865C-48834A1C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收入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39B7E-F285-417B-8FF9-F88871F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14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補助結束後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1A2E4-CFA0-4AB7-AC53-30CD0A26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75A60-6285-4CFC-9344-39EDE1B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432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人才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92335-5EA4-469E-9401-0B234432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432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持續投入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2D118-2FF1-4265-8EDC-1746BCF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147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4788D-F65F-413A-94C2-9CBD8874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FC499-0D40-4FFF-8962-2C0D9724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71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產品與體驗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34951-FA9F-46CD-AF94-9B9DD34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C214D-5EAF-42D1-BA19-80FDE3C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合作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61CC5-0450-4197-BF43-49F52DF4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005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ESG 長期化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8A35E-B9DE-4BFE-B04A-4DD1335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720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E3D3D-E213-4FA5-A026-C7146BC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E6FF"/>
                </a:solidFill>
              </a:defRPr>
            </a:pPr>
            <a:r>
              <a:rPr sz="1500" b="1">
                <a:solidFill>
                  <a:srgbClr val="A8E6FF"/>
                </a:solidFill>
              </a:rPr>
              <a:t>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4CD4C-8C1C-447A-BCE9-91AD368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292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資料與跨局處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94CD3-AD70-482A-8944-50FD08E4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006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4321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CE392-13BD-4A0C-8A8D-B37E1DDB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49A06-6592-4AA3-A77E-BC779FB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從補助成功，走向地方產業生態系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862C-FCD0-4324-8B11-738A2B4E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D1D1F"/>
                </a:solidFill>
              </a:defRPr>
            </a:pPr>
            <a:r>
              <a:rPr sz="3375" b="1">
                <a:solidFill>
                  <a:srgbClr val="1D1D1F"/>
                </a:solidFill>
              </a:rPr>
              <a:t>三個時間尺度，一條治理路徑。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5C6B3-CEC1-4F36-813F-845B3A54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B4191-C118-4488-AECB-34B15A7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現在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BB6D-731F-461E-AD47-10CA6A0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資料庫＋團隊盤點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83E39-E0E9-4900-8EE4-FF4E23A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看見全貌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D57D0-EAFB-4923-81A4-DBF76E0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01877-81C5-4C5F-B1E7-7F54B6B9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59291-BDEB-486E-B354-6678DE8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企業 ESG 媒合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645BC-A851-48BA-9A93-731F2E4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29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形成合作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4BDA5-AEE0-434E-8A9B-2C36C880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F5C8B-BDD3-45FA-A08B-34521E1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</a:defRPr>
            </a:pPr>
            <a:r>
              <a:rPr sz="1350" b="1">
                <a:solidFill>
                  <a:srgbClr val="0071E3"/>
                </a:solidFill>
              </a:rPr>
              <a:t>長期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652DA-4B32-45E8-B921-0D4F129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</a:defRPr>
            </a:pPr>
            <a:r>
              <a:rPr sz="2025" b="1">
                <a:solidFill>
                  <a:srgbClr val="1D1D1F"/>
                </a:solidFill>
              </a:rPr>
              <a:t>產業＋人才＋治理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1D7E4-9B28-45D5-AC77-87866C6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地方自我成長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43642-C7AB-4F7E-86D1-473D07D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13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17078519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1519E-E981-425A-93DD-A27C7D0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地方創生的下一階段，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C4F4A-7B24-49A1-8E3F-F89A2E9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777D"/>
                </a:solidFill>
              </a:defRPr>
            </a:pPr>
            <a:r>
              <a:rPr sz="3600" b="1">
                <a:solidFill>
                  <a:srgbClr val="77777D"/>
                </a:solidFill>
              </a:rPr>
              <a:t>不是讓更多案子通過。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850E-858B-4FE8-8A43-AD917C90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525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A8E6FF"/>
                </a:solidFill>
              </a:defRPr>
            </a:pPr>
            <a:r>
              <a:rPr sz="4650" b="1">
                <a:solidFill>
                  <a:srgbClr val="A8E6FF"/>
                </a:solidFill>
              </a:rPr>
              <a:t>是讓地方具備</a:t>
            </a:r>
          </a:p>
          <a:p xmlns:a="http://schemas.openxmlformats.org/drawingml/2006/main">
            <a:pPr algn="l">
              <a:defRPr sz="4650" b="1">
                <a:solidFill>
                  <a:srgbClr val="A8E6FF"/>
                </a:solidFill>
              </a:defRPr>
            </a:pPr>
            <a:r>
              <a:rPr sz="4650" b="1">
                <a:solidFill>
                  <a:srgbClr val="A8E6FF"/>
                </a:solidFill>
              </a:rPr>
              <a:t>持續發展的能力。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48FA-2089-4E51-BCFC-AF76A60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地方行動 × 企業本業 × 學術證據 × 公共治理</a:t>
            </a:r>
          </a:p>
        </p:txBody>
      </p:sp>
    </p:spTree>
    <p:extLst>
      <p:ext uri="{BB962C8B-B14F-4D97-AF65-F5344CB8AC3E}">
        <p14:creationId xmlns:p14="http://schemas.microsoft.com/office/powerpoint/2010/main" val="85845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3FC78-8C8D-465B-B7CB-B0E96D3B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72126-9401-4AF8-A7D7-31D209B8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資料與圖片來源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09483-4C4A-47E5-91C9-F0403D8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主要資料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EC03E-8E2F-4049-8496-86CEBCC6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新竹縣地方創生學術論壇20分鐘簡報大綱（2026-05-27）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新竹縣地方創生案例地圖 108–115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新竹縣地方創生輔導案、輔導團與新豐鄉地方創生專案資料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634D-B41F-42DF-8B3D-747E82B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網路圖片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43B9-4C57-412E-9F4E-AE7866E9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新竹縣政府｜竹縣114年社區規劃師計畫說明會（發布日期：114-12-17）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https://www.hchg.gov.tw/News_Content.aspx?n=153&amp;s=278153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B039A-9671-45DD-8CD2-2992DA2E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38"/>
                </a:solidFill>
              </a:defRPr>
            </a:pPr>
            <a:r>
              <a:rPr sz="1650" b="1">
                <a:solidFill>
                  <a:srgbClr val="D97738"/>
                </a:solidFill>
              </a:rPr>
              <a:t>正式對外前請再次確認：26件統計口徑、115年度最新公告、新豐案公開範圍。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F0715-BD64-4DB5-9967-3783909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</a:defRPr>
            </a:pPr>
            <a:r>
              <a:rPr sz="750" b="0">
                <a:solidFill>
                  <a:srgbClr val="6E6E73"/>
                </a:solidFill>
              </a:rPr>
              <a:t>15  ·  新竹縣地方創生</a:t>
            </a:r>
          </a:p>
        </p:txBody>
      </p:sp>
    </p:spTree>
    <p:extLst>
      <p:ext uri="{BB962C8B-B14F-4D97-AF65-F5344CB8AC3E}">
        <p14:creationId xmlns:p14="http://schemas.microsoft.com/office/powerpoint/2010/main" val="1616872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2026-07-12T01:11:30.2610000Z</dcterms:created>
  <dcterms:modified xsi:type="dcterms:W3CDTF">2026-07-12T01:11:30.2610000Z</dcterms:modified>
</coreProperties>
</file>