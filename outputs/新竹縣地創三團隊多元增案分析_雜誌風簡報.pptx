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36e58849c42a2" /><Relationship Type="http://schemas.openxmlformats.org/officeDocument/2006/relationships/extended-properties" Target="/docProps/app.xml" Id="R6d65e32ae11047b0" /><Relationship Type="http://schemas.openxmlformats.org/officeDocument/2006/relationships/officeDocument" Target="/ppt/presentation.xml" Id="Rc77ada6b0569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34a2874724419c"/>
  </p:sldMasterIdLst>
  <p:notesMasterIdLst>
    <p:notesMasterId xmlns:r="http://schemas.openxmlformats.org/officeDocument/2006/relationships" r:id="R50bd12542a25457d"/>
  </p:notesMasterIdLst>
  <p:sldIdLst>
    <p:sldId xmlns:r="http://schemas.openxmlformats.org/officeDocument/2006/relationships" id="256" r:id="Re221f245e82e4122"/>
    <p:sldId xmlns:r="http://schemas.openxmlformats.org/officeDocument/2006/relationships" id="257" r:id="R60eb0b6c2169411a"/>
    <p:sldId xmlns:r="http://schemas.openxmlformats.org/officeDocument/2006/relationships" id="258" r:id="Rc7df2e1639584934"/>
    <p:sldId xmlns:r="http://schemas.openxmlformats.org/officeDocument/2006/relationships" id="259" r:id="R65c18d8c898c49c7"/>
    <p:sldId xmlns:r="http://schemas.openxmlformats.org/officeDocument/2006/relationships" id="260" r:id="Ra596c18a601749b1"/>
    <p:sldId xmlns:r="http://schemas.openxmlformats.org/officeDocument/2006/relationships" id="261" r:id="R9be069a2cb3143a5"/>
    <p:sldId xmlns:r="http://schemas.openxmlformats.org/officeDocument/2006/relationships" id="262" r:id="Reea60385963c45e7"/>
    <p:sldId xmlns:r="http://schemas.openxmlformats.org/officeDocument/2006/relationships" id="263" r:id="Rb3bc17b50e914b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4a2874724419c" /><Relationship Type="http://schemas.openxmlformats.org/officeDocument/2006/relationships/theme" Target="/ppt/theme/theme1.xml" Id="Rf6bb67f7d8ea42bc" /><Relationship Type="http://schemas.openxmlformats.org/officeDocument/2006/relationships/notesMaster" Target="/ppt/notesMasters/notesMaster1.xml" Id="R50bd12542a25457d" /><Relationship Type="http://schemas.openxmlformats.org/officeDocument/2006/relationships/presProps" Target="/ppt/presProps.xml" Id="Rda83953b6a2c4767" /><Relationship Type="http://schemas.openxmlformats.org/officeDocument/2006/relationships/viewProps" Target="/ppt/viewProps.xml" Id="R8c5825355489414f" /><Relationship Type="http://schemas.openxmlformats.org/officeDocument/2006/relationships/tableStyles" Target="/ppt/tableStyles.xml" Id="R0ed27393d6774a76" /><Relationship Type="http://schemas.openxmlformats.org/officeDocument/2006/relationships/slide" Target="/ppt/slides/slide1.xml" Id="Re221f245e82e4122" /><Relationship Type="http://schemas.openxmlformats.org/officeDocument/2006/relationships/slide" Target="/ppt/slides/slide2.xml" Id="R60eb0b6c2169411a" /><Relationship Type="http://schemas.openxmlformats.org/officeDocument/2006/relationships/slide" Target="/ppt/slides/slide3.xml" Id="Rc7df2e1639584934" /><Relationship Type="http://schemas.openxmlformats.org/officeDocument/2006/relationships/slide" Target="/ppt/slides/slide4.xml" Id="R65c18d8c898c49c7" /><Relationship Type="http://schemas.openxmlformats.org/officeDocument/2006/relationships/slide" Target="/ppt/slides/slide5.xml" Id="Ra596c18a601749b1" /><Relationship Type="http://schemas.openxmlformats.org/officeDocument/2006/relationships/slide" Target="/ppt/slides/slide6.xml" Id="R9be069a2cb3143a5" /><Relationship Type="http://schemas.openxmlformats.org/officeDocument/2006/relationships/slide" Target="/ppt/slides/slide7.xml" Id="Reea60385963c45e7" /><Relationship Type="http://schemas.openxmlformats.org/officeDocument/2006/relationships/slide" Target="/ppt/slides/slide8.xml" Id="Rb3bc17b50e91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aa8c19eaf64d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c5a258f24434f" /><Relationship Type="http://schemas.openxmlformats.org/officeDocument/2006/relationships/notesMaster" Target="/ppt/notesMasters/notesMaster1.xml" Id="R5be623b7cc96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a3b7da0744cbb" /><Relationship Type="http://schemas.openxmlformats.org/officeDocument/2006/relationships/notesMaster" Target="/ppt/notesMasters/notesMaster1.xml" Id="Rc5b92a3135ff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5cd0d814043d3" /><Relationship Type="http://schemas.openxmlformats.org/officeDocument/2006/relationships/notesMaster" Target="/ppt/notesMasters/notesMaster1.xml" Id="R80467116da4245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184209d924416" /><Relationship Type="http://schemas.openxmlformats.org/officeDocument/2006/relationships/notesMaster" Target="/ppt/notesMasters/notesMaster1.xml" Id="R44efd11b2a5747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c3f68445d416e" /><Relationship Type="http://schemas.openxmlformats.org/officeDocument/2006/relationships/notesMaster" Target="/ppt/notesMasters/notesMaster1.xml" Id="Rf6a560121849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e47f2c319b4da1" /><Relationship Type="http://schemas.openxmlformats.org/officeDocument/2006/relationships/notesMaster" Target="/ppt/notesMasters/notesMaster1.xml" Id="Rc5b9fa4c01ff4b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85c67679ac4ec5" /><Relationship Type="http://schemas.openxmlformats.org/officeDocument/2006/relationships/notesMaster" Target="/ppt/notesMasters/notesMaster1.xml" Id="Rc8c3cdb4f8a44f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a1e72f613410c" /><Relationship Type="http://schemas.openxmlformats.org/officeDocument/2006/relationships/notesMaster" Target="/ppt/notesMasters/notesMaster1.xml" Id="R2d3aa9340b5944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ea680598243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9649f1b2ec34b12" /><Relationship Type="http://schemas.openxmlformats.org/officeDocument/2006/relationships/slideLayout" Target="/ppt/slideLayouts/slideLayout2.xml" Id="R907574d46dfd48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574d46dfd48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84cf644044808" /><Relationship Type="http://schemas.openxmlformats.org/officeDocument/2006/relationships/notesSlide" Target="/ppt/notesSlides/notesSlide1.xml" Id="R86adaacf85b8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75703f6974f3e" /><Relationship Type="http://schemas.openxmlformats.org/officeDocument/2006/relationships/notesSlide" Target="/ppt/notesSlides/notesSlide2.xml" Id="R782d0f10667f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e8e39435f4366" /><Relationship Type="http://schemas.openxmlformats.org/officeDocument/2006/relationships/notesSlide" Target="/ppt/notesSlides/notesSlide3.xml" Id="R25392124b40942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9951ba34941d0" /><Relationship Type="http://schemas.openxmlformats.org/officeDocument/2006/relationships/notesSlide" Target="/ppt/notesSlides/notesSlide4.xml" Id="R497f4eced5e0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0fb8ad1d9a485a" /><Relationship Type="http://schemas.openxmlformats.org/officeDocument/2006/relationships/notesSlide" Target="/ppt/notesSlides/notesSlide5.xml" Id="R2805363fafde44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279e39add849ad" /><Relationship Type="http://schemas.openxmlformats.org/officeDocument/2006/relationships/notesSlide" Target="/ppt/notesSlides/notesSlide6.xml" Id="R622268b7e3bf4a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84f5c8c30452b" /><Relationship Type="http://schemas.openxmlformats.org/officeDocument/2006/relationships/notesSlide" Target="/ppt/notesSlides/notesSlide7.xml" Id="Ra0feffad735c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92cf682814f52" /><Relationship Type="http://schemas.openxmlformats.org/officeDocument/2006/relationships/notesSlide" Target="/ppt/notesSlides/notesSlide8.xml" Id="R8ebc840a348d4e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23036-FCB2-4F00-AF3B-E227B521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02B45-8084-4714-B35A-2157C4E6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2DA83-3C2B-485F-8EEE-BABA4EE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HSINCHU LOCAL CREATION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99AB1-8BBD-4B5B-82DC-0787168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17614-2AA6-45CD-8190-240D658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81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330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新竹縣地創三團隊</a:t>
            </a:r>
          </a:p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330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多元增案分析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91F90-C091-40CD-B857-CD5E8F8D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新埔鎮・北埔鄉・竹東鎮｜製作日期 2026-05-20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21BC4-F3CD-4E8F-ADC2-29F98E3E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把既有執行基礎、利他168新入選團隊與跨部會資源接起來，形成可輔導、可提案、可排程的年度增案池。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E1FD-B271-4019-B310-6D4822DE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6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7FA89-820A-41A2-80B4-7BE427B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096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A63D2F"/>
                </a:solidFill>
                <a:latin typeface="Songti TC"/>
                <a:ea typeface="Songti TC"/>
                <a:cs typeface="Songti TC"/>
              </a:defRPr>
            </a:pPr>
            <a:r>
              <a:rPr sz="11250" b="1">
                <a:solidFill>
                  <a:srgbClr val="A63D2F"/>
                </a:solidFill>
                <a:latin typeface="Songti TC"/>
                <a:ea typeface="Songti TC"/>
                <a:cs typeface="Songti T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83BF7-0421-43BE-BDA9-955572E7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件可輔導增案上限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BFDEA-72C0-485D-B86F-577E7F0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2F550-ED1D-40CC-942C-E5FA6647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9 件單隊徵案</a:t>
            </a:r>
          </a:p>
          <a:p xmlns:a="http://schemas.openxmlformats.org/drawingml/2006/main">
            <a:pPr algn="ctr">
              <a:defRPr sz="1350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3 件跨域共提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69BE2-DD82-49E1-A05F-D37150CD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852C9-3208-462A-AF80-A2BD2A9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958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核心判斷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F211E-DFFE-43AD-9553-7C71CF15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先鎖三個主攻包，再回填九件單隊案件。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C5B1E-5767-41FB-859F-395BF4A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98F01-E359-4CEA-A38E-231EF0FD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6603A-415D-486E-9C74-3CFC289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4361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490C6-B373-4904-9C13-BEAA180C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53C31BB-D333-441E-8664-D0DA3734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B9468E98-8151-4258-BAA2-B167256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PORTFOLIO 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B643C-D5D7-450F-A76B-0350ACB7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270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三隊已各自站在不同的增案入口。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835A9-67EB-4D46-A633-04E28713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不是從零開始找題目，而是把既有年度、主題標籤與核心主軸轉成下一輪補助入口。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F72D7-F4B3-47DB-9474-86C71FE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67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A63D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AA474-A4F9-4664-98F0-50FA6F7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537E-C585-4B28-A835-5726270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63D2F"/>
                </a:solidFill>
                <a:latin typeface="Songti TC"/>
                <a:ea typeface="Songti TC"/>
                <a:cs typeface="Songti TC"/>
              </a:defRPr>
            </a:pPr>
            <a:r>
              <a:rPr sz="2250" b="1">
                <a:solidFill>
                  <a:srgbClr val="A63D2F"/>
                </a:solidFill>
                <a:latin typeface="Songti TC"/>
                <a:ea typeface="Songti TC"/>
                <a:cs typeface="Songti TC"/>
              </a:rPr>
              <a:t>新埔鎮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FF46B-BFB8-4E7A-B434-FE27F721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新·新埔後生聚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08B9D-5A2C-4E14-8005-ACAEF84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445C6-F0D7-4EEA-BF73-FC9305D8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年度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E2020-CB03-410C-B1DF-2B9A2B67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D72E3-CDBD-4A49-AE7F-CEE5EEFF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主題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746F6-235C-4D91-9C78-5EC0805D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培力共好 × 文化深耕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0DEC2-D63A-4642-9F69-A213A63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主軸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42906-AB15-4523-8B13-247C085F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客家文化傳承 × 青年返鄉 × 社區培力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5CCE9-BCEA-4A7E-A5BB-0154815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067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9A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B9D95-865E-4283-A493-550CBA5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1F55D-FF6D-4911-9B48-6B2946A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431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9A2B"/>
                </a:solidFill>
                <a:latin typeface="Songti TC"/>
                <a:ea typeface="Songti TC"/>
                <a:cs typeface="Songti TC"/>
              </a:defRPr>
            </a:pPr>
            <a:r>
              <a:rPr sz="2250" b="1">
                <a:solidFill>
                  <a:srgbClr val="D99A2B"/>
                </a:solidFill>
                <a:latin typeface="Songti TC"/>
                <a:ea typeface="Songti TC"/>
                <a:cs typeface="Songti TC"/>
              </a:rPr>
              <a:t>北埔鄉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8756F-EDFB-4284-9BF8-25BB0AFA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57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大山橙黃橘綠時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3B3EE-FCB2-4DD6-9FA1-437E0E64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337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C6AA3-EE4B-4C4C-BF73-1B958AE5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814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年度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0B8E0-B510-4A56-913B-BCC8241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80147-285A-44C9-9309-176BD7B0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52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主題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C8355-44B1-4564-BD78-92EE64DC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76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產業振興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95237-BDC6-43BE-B06A-10E23DEE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29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主軸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761F5-626A-44AE-942E-2411D76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57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柑橘農產品牌化 × 在地選品 × 產業升級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9359A-B249-4FE9-A067-6220DEF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3067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356B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08D58-51C2-4DA2-A25D-F0726380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76332-89AB-4CE6-887F-B348EE63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6B8C"/>
                </a:solidFill>
                <a:latin typeface="Songti TC"/>
                <a:ea typeface="Songti TC"/>
                <a:cs typeface="Songti TC"/>
              </a:defRPr>
            </a:pPr>
            <a:r>
              <a:rPr sz="2250" b="1">
                <a:solidFill>
                  <a:srgbClr val="356B8C"/>
                </a:solidFill>
                <a:latin typeface="Songti TC"/>
                <a:ea typeface="Songti TC"/>
                <a:cs typeface="Songti TC"/>
              </a:rPr>
              <a:t>竹東鎮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E85D6B-C96D-49F7-BE40-401444A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鹿寮坑溪青培工作站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02997-6DEB-4FD4-A222-45EE8FB9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FC72B2-3D82-42AC-B5B2-2439888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年度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56C9D3-9476-421B-A4E2-2C2C4516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86A750-4DA8-44AE-B807-BC64708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主題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8B1BE3-8780-4D6F-ABAC-D14BFFEA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76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培力共好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4B6467-6679-47D1-8010-A688D86F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788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主軸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4D23B3-3391-4041-B0F6-EB37778E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577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溪流生態 × 社區共好 × 青年培力（含芎林鄉）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DE19D5-C293-4E88-ADA2-37C5927D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來源文件將三隊分別定位在文化培力、農產品牌、溪流生態三條路徑；這也是後續增案分流的基礎。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19C614-760B-48FE-B667-D0F831C9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4ED8AB-C2E3-4800-B6B6-2FB2357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C4406A-E6E3-4DA9-ADD5-E04C7F0B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94003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B35FD3-F97A-4220-B7FB-D39C2C9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8FFDFDE2-C729-4980-BB1E-E03B350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C843DDD-3E5E-4C21-84A7-DBAD0913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OPPORTUNITY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723ED-70E3-4AE8-8C8A-7415847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最佳增案策略不是平均申請，而是依場域條件分流。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57FF3-B235-46D2-817B-4A35371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獎勵青年投入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84775-534B-4C8F-8084-08D0DDF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青年培力工作站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E670E-CEDC-46E2-B999-E868859C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廊帶／部會資源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37967-445A-49AD-B4F1-5BFA8C0A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跨域共提案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4A16F-0637-4091-8667-426DACDC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新埔鎮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5F02E-B4CE-4BD5-9A56-1329B5F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F3B2D-A880-498D-B592-A10D6A3E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9F05E-EE55-4539-9713-CF18862C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50205-55B0-4D8B-99A1-AC09A9B3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可申請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880CA-D792-4409-A084-6C7F37E4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單隊深化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5A960-8D84-450B-9C73-157317B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AB7A3-9713-436D-9659-EF5B6E5F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9AA9E-8FC1-4EC1-811C-043FE8E6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907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強烈建議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D5FFA-F1B5-49E6-8689-E6176C6C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95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組織與場域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89A5B-A483-41E1-BABF-24E4597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6DE35-C187-443B-A08F-92C40E65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292B9-2A03-489B-84D6-4A42F13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文化部資源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BDBBE-AE80-4004-98DD-B7E3ACC5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外部資源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6C6D3-D08B-47CA-9ADF-FF0AB3FA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E6597-C46F-4019-A4C5-9893E839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3A948-604D-4144-953F-E81E8910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客家廊帶＋橫山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869EF-5BD3-42F9-A384-EC7D214C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跨鄉鎮串聯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E7A37-3FCD-49BE-AF81-15149B5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北埔鄉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37A2F1-8252-41F9-ACE3-7CA5C130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883F4-82FC-4ABB-BF19-21ED156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60BD5-3F59-4365-B15A-C92B003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1BC968-D8A2-462F-AF6E-2BD79E5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可再申請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671D1-7B13-4A4A-B829-90A3A988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861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單隊深化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6CB86-7FBB-46F1-85EB-BC226F58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4300F-9942-4B55-AF58-5277EB7C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48B636-870C-438E-A464-DCA018E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81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評估中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DBF401-5801-4D9C-9F58-35578B08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861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組織與場域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A2DF34-CCCF-4B58-A2D1-A249013D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1653F2-6A88-414F-8189-B6B62F8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A112DF-FCBA-4A7C-9A40-1BE7712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81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廊帶＋ESG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ED3A1-12BB-4610-9029-EEE067A0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861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外部資源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FC5395-61C4-4778-8737-EE1A95A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667A0-57FC-4ED2-AD39-84D74189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6FE112-D136-4EF8-BCF1-D668CC81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食農聯盟＋寶山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396E68-C47D-4DE2-995E-CB882838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861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跨鄉鎮串聯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DE3539-8FAD-4AF6-9D1E-B5EF7F6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竹東鎮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B48C22-33D6-406B-A2BE-FEB2D469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AF1BF9-3E65-4A71-A680-AF33E545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C6C838-2546-42EE-ABB0-53C8FCB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67438B-1F23-4A8A-AE29-DA44162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孵化搭配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DB1E62-E397-49C9-A6BE-E6037D44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76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單隊深化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0B6AD9-9B7B-4361-8951-1D92A39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DB2964-4389-44D2-80D2-23DDCD6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55CC9D-A9E4-4618-9253-EB13328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延續首選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800CB3-F7A5-4356-8F5C-D090588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76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組織與場域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ED49F4-E0DE-40DF-8485-2A00E06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140061-3702-4567-B92D-9CB70F1A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3E6872-F647-457E-99B6-0305E014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環境部／農業部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6E616C-9EF4-4D73-88B6-6FD88F25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外部資源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D11B32-9593-435E-A41C-A51254BF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7E264A-B7DB-4806-829B-2674255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026096-FF8C-4C1B-BA92-D7E402C8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山林廊帶＋橫山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88DFE4-5601-49CB-84C0-6388353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88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跨鄉鎮串聯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80587A-C9A4-4B8A-9664-597B8D2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2A"/>
          </a:solidFill>
          <a:ln xmlns:a="http://schemas.openxmlformats.org/drawingml/2006/main" w="9525">
            <a:solidFill>
              <a:srgbClr val="1F2D2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099B44-5CF7-4CEF-82C3-2D628D8F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7429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讀法：紅色代表主攻方向，綠色代表可立即承接，橘色代表條件成熟後再推進。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C34B54-AD5C-468B-B4A0-65A28D6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D7C875-BA9A-4CA6-AA1A-A849027F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C45C74-BAFA-4977-AE0B-A104D73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32623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3B384-D17C-4243-996C-66B0184B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8BA93B41-D586-4A05-83B9-958BDB9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03A6E016-4618-48D0-A353-6E8A4B2C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TEAM STRATEGY / XINPU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CCDFB-A39F-4737-85CE-3AFBE93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2625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新埔應把客家文化培力工作站升為主案。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12BA7-23E1-4B31-8863-F098261F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既有青年執行經驗讓新埔不只可再申請，而是具備轉成工作站核心節點的條件。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A3EDE-0333-4841-B609-28C113F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A63D2F"/>
                </a:solidFill>
                <a:latin typeface="Songti TC"/>
                <a:ea typeface="Songti TC"/>
                <a:cs typeface="Songti TC"/>
              </a:defRPr>
            </a:pPr>
            <a:r>
              <a:rPr sz="4050" b="1">
                <a:solidFill>
                  <a:srgbClr val="A63D2F"/>
                </a:solidFill>
                <a:latin typeface="Songti TC"/>
                <a:ea typeface="Songti TC"/>
                <a:cs typeface="Songti T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C5B4F-6117-4C34-AB18-B4FD5DFB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萬／年</a:t>
            </a:r>
          </a:p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青年行動上限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05714-48CE-4085-9313-A29AF49D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F6B4F"/>
                </a:solidFill>
                <a:latin typeface="Songti TC"/>
                <a:ea typeface="Songti TC"/>
                <a:cs typeface="Songti TC"/>
              </a:defRPr>
            </a:pPr>
            <a:r>
              <a:rPr sz="4050" b="1">
                <a:solidFill>
                  <a:srgbClr val="2F6B4F"/>
                </a:solidFill>
                <a:latin typeface="Songti TC"/>
                <a:ea typeface="Songti TC"/>
                <a:cs typeface="Songti TC"/>
              </a:rPr>
              <a:t>50-200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DD7FF-6BA5-49D9-928D-68B7C58E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萬／年</a:t>
            </a:r>
          </a:p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培力工作站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8DD44-9009-4854-ABE5-945F368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99A2B"/>
                </a:solidFill>
                <a:latin typeface="Songti TC"/>
                <a:ea typeface="Songti TC"/>
                <a:cs typeface="Songti TC"/>
              </a:defRPr>
            </a:pPr>
            <a:r>
              <a:rPr sz="4050" b="1">
                <a:solidFill>
                  <a:srgbClr val="D99A2B"/>
                </a:solidFill>
                <a:latin typeface="Songti TC"/>
                <a:ea typeface="Songti TC"/>
                <a:cs typeface="Songti TC"/>
              </a:rPr>
              <a:t>10月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F81A9-56E7-4FB4-A466-9C25D666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115年前</a:t>
            </a:r>
          </a:p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完成申請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C7AD8-306A-43BC-9B81-BE03F5B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A63D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BBFE6-0EA2-4408-BF35-52C367D6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0FA00-13EE-4C20-BDD6-8D0B96B6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5742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已有基礎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D9AAC-DDA0-45D5-A7AC-DEC33EE2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71750"/>
            <a:ext cx="1695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114年度青年行動經驗</a:t>
            </a:r>
          </a:p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客家文化傳承與青年返鄉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7ED2F-8CA7-4C0B-8F7F-CD2DA99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2286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3F4B7-C331-4441-99DE-1A97E4C3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145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CF19C-7E7E-4709-93D9-839CB800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57425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主案升級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49C61-6CE5-42E2-B569-6DE2C97B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1981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以新埔為核心節點</a:t>
            </a:r>
          </a:p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建立客家文化培力工作站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B1E80-B76E-4842-810A-265849F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095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9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4C6F3-00CD-413D-B29B-7FE48B24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48725-947B-4427-8ADF-4164B92E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5742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服務擴張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141EC-D4D5-410D-AF18-79F66AD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71750"/>
            <a:ext cx="1790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延伸北埔、橫山</a:t>
            </a:r>
          </a:p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提高服務範圍與額度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F571D-3FA3-4D8A-89F9-8E912DFF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24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AFD53-7BDC-4FA6-A09B-26E0B0B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24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420BF-A3CF-4F80-9F53-46384DB0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5E7B6-8EA0-4440-8A14-A712B3D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跨域合作切口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F39B0-E90E-4FA5-B063-0932CBE8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3865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新埔鎮 × 橫山鄉（釀味漬灶所）｜客家生活廊帶：醃漬工藝 × 節慶文化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5AE9D0-190E-4EE6-928F-5572E536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53965-98F8-409A-A973-73C2ACF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4C1B4-F00A-4410-B477-ECBBEC07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23797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8BEBCD-884E-418A-AF99-AC1D999C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8819D5E-B0EB-45C2-AAA7-62714BC2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A18CC1E4-7C6B-42FB-9ADB-E88A4C71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TEAM STRATEGY / BEIPU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1EB68-461A-4861-8D0E-26D79F5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北埔最快的放大路徑是老街廊帶加 ESG 通路。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EECED-63B9-4A7C-8027-5C8E8A2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北埔的優勢不是另起工作站，而是用老街商業廊帶承接農產品牌化，再往企業採購與 ESG 敘事延伸。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AD639-A30E-4064-95CF-35B9CF9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28575">
            <a:solidFill>
              <a:srgbClr val="D99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D3CFD-A742-45E8-A35E-16CAF20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28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9CCB4-EC72-4E84-8D3D-4A95FDC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9A2B"/>
                </a:solidFill>
                <a:latin typeface="Songti TC"/>
                <a:ea typeface="Songti TC"/>
                <a:cs typeface="Songti TC"/>
              </a:defRPr>
            </a:pPr>
            <a:r>
              <a:rPr sz="2850" b="1">
                <a:solidFill>
                  <a:srgbClr val="D99A2B"/>
                </a:solidFill>
                <a:latin typeface="Songti TC"/>
                <a:ea typeface="Songti TC"/>
                <a:cs typeface="Songti TC"/>
              </a:rPr>
              <a:t>廊帶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29349-3F03-402F-9548-EF5DF9DF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北埔老街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在地店家 5 家以上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29510-E447-42C1-8431-688AA19D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257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6D6AB-D5A3-4205-AF5E-138D17F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選品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27CC9-24C7-4EB5-826C-B37E884F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72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13A22-B8E1-4EF2-A419-BABDFF51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52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柑橘農產品牌化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B0233-E0CD-4AB7-94B0-1CE5CD3B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9EA61-C3E6-4D33-9EAD-9B4FE4F2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1257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80B8D-05C1-4E9D-8993-F3CC8CEA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店家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2422B-1CF6-4A4D-B70D-C262E438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62300"/>
            <a:ext cx="72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C6AD1-BC4C-48FA-8A25-0C4D8621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52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老街聯合申請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94D93-BE96-4028-858B-927ADAED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DAC81-2C21-4B43-B66A-7E6CCF3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257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2A"/>
          </a:solidFill>
          <a:ln xmlns:a="http://schemas.openxmlformats.org/drawingml/2006/main" w="9525">
            <a:solidFill>
              <a:srgbClr val="1F2D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C8974-702E-44CA-A2B2-2A1847F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通路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6BCAF-B4F7-498A-BEEA-9FD41F57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72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E4161-C2C1-466D-899A-07B405C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52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企業 ESG 採購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1E3EC-7711-4849-BF88-FB71D994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D26A9-6DFC-48B7-882C-2A2E1C77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257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6C9355-E839-45E0-A040-995E6E9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共提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B9848-9BDF-44F1-867F-85EC14A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72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C61D3-7F87-487B-89E8-EA84AC95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寶山食農共創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7CFFF-DA91-4459-ACDD-7665656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6115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EC4AF-CA41-4859-8CF8-853F0127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優先切入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5DF44-AFFB-4E71-80B2-87A79B1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053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115年 Q3 啟動洽談：北埔農產 × 企業採購 ESG 指標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8C208-1D2B-4428-8ADB-C8ECD050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DE161-7342-48FF-A6F3-2E7235C7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5BE6E-24E2-4D32-B3C7-0BAEF904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32356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29C53-FD8A-40C7-AC54-6D35C77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6854415-709F-4816-81E2-CCCD7FD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4D1D68D3-D5EA-499E-BA0E-719EE4BB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3D6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EDE3D6"/>
                </a:solidFill>
                <a:latin typeface="PingFang TC"/>
                <a:ea typeface="PingFang TC"/>
                <a:cs typeface="PingFang TC"/>
              </a:rPr>
              <a:t>TEAM STRATEGY / ZHUDONG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B20C0-94D0-4219-9C65-16C1C4E0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Songti TC"/>
                <a:ea typeface="Songti TC"/>
                <a:cs typeface="Songti TC"/>
              </a:defRPr>
            </a:pPr>
            <a:r>
              <a:rPr sz="2550" b="1">
                <a:solidFill>
                  <a:srgbClr val="F6F1E8"/>
                </a:solidFill>
                <a:latin typeface="Songti TC"/>
                <a:ea typeface="Songti TC"/>
                <a:cs typeface="Songti TC"/>
              </a:rPr>
              <a:t>竹東的勝率來自工作站延續與可量化成果。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2B2DA-0E2E-4E40-B2AC-BDAF1710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C6B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C6B8"/>
                </a:solidFill>
                <a:latin typeface="PingFang TC"/>
                <a:ea typeface="PingFang TC"/>
                <a:cs typeface="PingFang TC"/>
              </a:rPr>
              <a:t>113 年已獲工作站補助，延續申請的關鍵不是再說理念，而是把服務人次、活動場次與青年留鄉率補成證據。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5E47E-2103-4554-8A2A-A27B4A9D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2162E-B55A-4397-849F-F29EC3C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61D11-1E01-4E4C-987D-5DF9DA26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整理成果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2C289-0466-4980-987D-C98566B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rPr>
              <a:t>服務人次、活動場次、青年留鄉率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ABA7E-CFAC-423A-A312-B8FAAFC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8B750-3952-4B60-9E6C-C07CE922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83DB8-AF52-48DD-83AA-4ECA14A1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延續計畫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75196-21D7-4EF0-B20E-2FB3DC82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rPr>
              <a:t>加入擴大服務範圍論述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C8859-DD69-4C25-8C94-4A739096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7DA71-2DA7-4E68-B230-85EE761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27A00-5485-4F09-BBF7-C38CFC2D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跨域共提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C5858-7087-4FFE-993F-056D5B23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rPr>
              <a:t>橫山利他168團隊與山林溪流廊帶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F0762-12A2-4523-ACAA-D6BFFF3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2A1C2-948F-4126-8F60-6DEBD09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22A30-E186-4FBA-B6B6-CBC8D87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站內孵化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EA655-8893-4CFD-BE0C-2EB94DE0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8D0C3"/>
                </a:solidFill>
                <a:latin typeface="PingFang TC"/>
                <a:ea typeface="PingFang TC"/>
                <a:cs typeface="PingFang TC"/>
              </a:rPr>
              <a:t>工作站孵化 2–3 個青年獎勵案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DEDB3-397E-412C-A9B0-59FFF678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1BD53-0DBC-4C95-97E4-26F1731F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主攻時間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94DDE-236F-41DC-AF94-C50E743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626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165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115年10月前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F4E11-CA44-4954-B749-BF6F86D3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6E59C-7607-472A-9105-07253522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C6B8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CFC6B8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59215-0F0F-4B90-88E6-8A91B7D7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DE3D6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EDE3D6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91368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2478E-288D-453D-A5D7-D679DC2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B6DC63C0-EB64-469D-81D3-E96CF087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8A2943BD-D6FE-4FFA-BAE1-4702480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COLLABORATION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8F5A0-B8C8-4989-93C1-78EB842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橫山與寶山讓三隊從單點提案變成兩條廊帶。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EA00B-86B1-4896-A2B7-027621F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利他168新入選團隊可作為跨域共提支點：橫山承接客家生活與山林生態，寶山承接食農與青銀共創。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B855C-F508-4EA5-B093-1F9DA3F6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A63D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4B3AF-9414-4AA0-A5E9-F92CEA6C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新埔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EAB25-4E84-4930-8DBA-212EACD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客家文化培力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1DE6E-D7CD-4DF4-99FB-3E17E5C9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99A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95F08-26FF-48CD-8099-556704E5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北埔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5EF11-DEF2-4053-A2C0-F568966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67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農產品牌廊帶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7EA26-6CC1-4548-8D96-FF31EF08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356B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B9194-766B-47D1-ADCA-F4AC12E0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530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竹東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405B9-D8DA-402B-8D72-16C4949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溪流生態工作站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28269-EE47-4C7D-8011-965FD153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55933-EDEE-4C2D-8A39-6AE442DA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1460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橫山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D0492-A52E-4C55-9371-3E1FCF0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527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釀味漬灶所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ED765-9755-40CA-BD5C-C66AE731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76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B3501-3DFB-41F3-BCAB-5C05400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10050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寶山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31B77-8B39-4387-8889-21EFF1A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24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糖米青銀新城樂Q誌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7F70E-287A-499E-968D-30E638A9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95BC8-3495-494B-BD2C-A58FB564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28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D70C6-EFF3-44CA-B005-27EB2468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1971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F54E6-28C0-4333-9B46-1F1324E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客家生活廊帶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2CD86-2288-4D2F-87A2-CA4CFD2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6C16C-1B1F-41F9-A3DB-4F49A9E2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AAF23-1784-4A3B-B54C-D6918650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76750"/>
            <a:ext cx="1971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3496F-461B-4551-A3D7-2833F02B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食農共創聯盟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06911A-5271-48ED-972F-B621A95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8707E-0627-4371-B9DB-C90BFDA9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285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86421-6C4D-43D4-9890-6D694CA3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1971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2CCCA-A0F3-4F7A-B1DF-943D8EA2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山林生態廊帶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3B8CC-989C-4F92-99E8-AA762EB4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81300"/>
            <a:ext cx="2000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2A"/>
          </a:solidFill>
          <a:ln xmlns:a="http://schemas.openxmlformats.org/drawingml/2006/main" w="9525">
            <a:solidFill>
              <a:srgbClr val="1F2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C780E-921C-4136-9A1B-09E9B89B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28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E3D6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DE3D6"/>
                </a:solidFill>
                <a:latin typeface="PingFang TC"/>
                <a:ea typeface="PingFang TC"/>
                <a:cs typeface="PingFang TC"/>
              </a:rPr>
              <a:t>共提案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5227A9-E5C6-46A5-85C9-C89518CC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956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D99A2B"/>
                </a:solidFill>
                <a:latin typeface="Songti TC"/>
                <a:ea typeface="Songti TC"/>
                <a:cs typeface="Songti TC"/>
              </a:defRPr>
            </a:pPr>
            <a:r>
              <a:rPr sz="4500" b="1">
                <a:solidFill>
                  <a:srgbClr val="D99A2B"/>
                </a:solidFill>
                <a:latin typeface="Songti TC"/>
                <a:ea typeface="Songti TC"/>
                <a:cs typeface="Songti TC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0D441F-5B03-440E-9F18-EE51DB5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576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件跨域路徑</a:t>
            </a:r>
          </a:p>
          <a:p xmlns:a="http://schemas.openxmlformats.org/drawingml/2006/main">
            <a:pPr algn="l">
              <a:defRPr sz="1125" b="1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把單隊提案擴成縣域廊帶敘事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32F01-1897-41A4-9B6E-295DF0F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6666ED-9C10-445F-867D-44AFDB44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620756-7054-482C-B145-8600BDD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62038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E0284-CF74-4DB9-B316-480F66C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4813FFC-F8F3-4AE1-905B-51CD6B0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FDFF234-567B-4985-9DFC-D6FE0754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EXECUTION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2652C-EC7B-4288-BA22-F95C2524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defRPr>
            </a:pPr>
            <a:r>
              <a:rPr sz="2550" b="1">
                <a:solidFill>
                  <a:srgbClr val="17202A"/>
                </a:solidFill>
                <a:latin typeface="Songti TC"/>
                <a:ea typeface="Songti TC"/>
                <a:cs typeface="Songti TC"/>
              </a:rPr>
              <a:t>115 年先鎖三個主攻包，再回填 9 件單隊案件。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5C429-5CDE-4D0F-A7C3-56A6F31D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建議先把高勝率、可串聯、可寫成計畫書的主攻包排入輔導節奏，再補齊各隊獨立徵案。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ED824-5265-43BC-AC20-E63D8540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42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84316-28F0-4B0D-A4B3-5D2DCB90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F3E26-30C6-4CBA-B195-6CAD82F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115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C2D93-D066-43FC-9FA1-C1B8E2D6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61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E9FCD-D4D9-492F-BC57-351352FE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9A2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99A2B"/>
                </a:solidFill>
                <a:latin typeface="PingFang TC"/>
                <a:ea typeface="PingFang TC"/>
                <a:cs typeface="PingFang TC"/>
              </a:rPr>
              <a:t>北埔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67A47-A94C-4D4E-95CA-4C131557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A5CE5-61CD-4E08-8317-4E3BDEAE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廊帶店家申請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ESG 企業媒合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3FF32-AB8A-45F1-AFEA-BCFDB94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AF299-4FE6-4AFA-A037-8FDB16D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383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115 Q3-Q4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1DD6A-A526-4FD3-A129-B86033F5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57550"/>
            <a:ext cx="161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3789E-4311-4EF0-A4E0-BCE1F938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63D2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63D2F"/>
                </a:solidFill>
                <a:latin typeface="PingFang TC"/>
                <a:ea typeface="PingFang TC"/>
                <a:cs typeface="PingFang TC"/>
              </a:rPr>
              <a:t>新埔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045D1-8FF0-46AF-BB2F-8D3BA09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12E0E-78C3-4221-9090-BD0D7899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客家文化培力工作站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串聯橫山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783EE-A5B0-41D2-988B-0B799F6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C4B0F-D231-424B-A97F-7F7ADCC6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115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88022-4248-42CC-B753-F408B60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61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D4F4E-8636-4F5D-B75F-113F6510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6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6B8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56B8C"/>
                </a:solidFill>
                <a:latin typeface="PingFang TC"/>
                <a:ea typeface="PingFang TC"/>
                <a:cs typeface="PingFang TC"/>
              </a:rPr>
              <a:t>竹東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8D7E5-FA59-4953-AD61-649B54D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862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6D544-A728-4317-9D1F-CC87B87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工作站延續強化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部會資源對接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F9AC1-3632-49D1-ABEF-1BBF77B3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6F218-7DB7-4317-AF24-8D791E5F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383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回填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3A057-C2A8-4969-AA63-03223AC7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57550"/>
            <a:ext cx="161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C7B9A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8CA31-4190-480A-87ED-A3C0F616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86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三隊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BAA05-E889-46DB-AA9A-4BA45E24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C8929D-0BDF-41F3-9CF9-E71B158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9 件單隊徵案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依年度行程調整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49101-3BB3-4895-8D0C-8E43E07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3124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D2A"/>
          </a:solidFill>
          <a:ln xmlns:a="http://schemas.openxmlformats.org/drawingml/2006/main" w="9525">
            <a:solidFill>
              <a:srgbClr val="1F2D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6CB0FA-34BE-4CFB-9868-D5EE000E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911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DE3D6"/>
                </a:solidFill>
                <a:latin typeface="PingFang TC"/>
                <a:ea typeface="PingFang TC"/>
                <a:cs typeface="PingFang TC"/>
              </a:defRPr>
            </a:pPr>
            <a:r>
              <a:rPr sz="938" b="1">
                <a:solidFill>
                  <a:srgbClr val="EDE3D6"/>
                </a:solidFill>
                <a:latin typeface="PingFang TC"/>
                <a:ea typeface="PingFang TC"/>
                <a:cs typeface="PingFang TC"/>
              </a:rPr>
              <a:t>執行備註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75660B-81BC-4617-B0ED-CB9FB18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1E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F6F1E8"/>
                </a:solidFill>
                <a:latin typeface="PingFang TC"/>
                <a:ea typeface="PingFang TC"/>
                <a:cs typeface="PingFang TC"/>
              </a:rPr>
              <a:t>最多 12 件為輔導上限；實際執行仍依團隊年度行程與場域條件調整。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64704-ADC9-4751-8D20-F47AE1EE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9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DC367-6989-4589-9517-831F398F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資料來源：地方創生資訊共享交流平臺 × 115年度利他行動168核定名單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7A1F3-5E45-49F6-9173-DF55DEC4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F665F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9906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2026-05-19T23:24:44.6730000Z</dcterms:created>
  <dcterms:modified xsi:type="dcterms:W3CDTF">2026-05-19T23:24:44.6730000Z</dcterms:modified>
</coreProperties>
</file>