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b7c50a45ec4cb3" /><Relationship Type="http://schemas.openxmlformats.org/officeDocument/2006/relationships/extended-properties" Target="/docProps/app.xml" Id="R474c5c6b55124d08" /><Relationship Type="http://schemas.openxmlformats.org/officeDocument/2006/relationships/officeDocument" Target="/ppt/presentation.xml" Id="Rfc51bc42e6c14a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c9a3bc58c47c4"/>
  </p:sldMasterIdLst>
  <p:notesMasterIdLst>
    <p:notesMasterId xmlns:r="http://schemas.openxmlformats.org/officeDocument/2006/relationships" r:id="R213c58dd32e74f02"/>
  </p:notesMasterIdLst>
  <p:sldIdLst>
    <p:sldId xmlns:r="http://schemas.openxmlformats.org/officeDocument/2006/relationships" id="256" r:id="Rd4e4a10c0dd5417e"/>
    <p:sldId xmlns:r="http://schemas.openxmlformats.org/officeDocument/2006/relationships" id="257" r:id="Rd503d858b3254483"/>
    <p:sldId xmlns:r="http://schemas.openxmlformats.org/officeDocument/2006/relationships" id="258" r:id="R7d185ad61aec4410"/>
    <p:sldId xmlns:r="http://schemas.openxmlformats.org/officeDocument/2006/relationships" id="259" r:id="Rb09e1649600a43e2"/>
    <p:sldId xmlns:r="http://schemas.openxmlformats.org/officeDocument/2006/relationships" id="260" r:id="Rf4b2ff5d30004ed3"/>
    <p:sldId xmlns:r="http://schemas.openxmlformats.org/officeDocument/2006/relationships" id="261" r:id="R94a22496ed5a443e"/>
    <p:sldId xmlns:r="http://schemas.openxmlformats.org/officeDocument/2006/relationships" id="262" r:id="R7739ad7ed70a4ace"/>
    <p:sldId xmlns:r="http://schemas.openxmlformats.org/officeDocument/2006/relationships" id="263" r:id="R6852061a3f6143ab"/>
    <p:sldId xmlns:r="http://schemas.openxmlformats.org/officeDocument/2006/relationships" id="264" r:id="R7357ffd342db40b9"/>
    <p:sldId xmlns:r="http://schemas.openxmlformats.org/officeDocument/2006/relationships" id="265" r:id="Rad5eb8080ad5419b"/>
    <p:sldId xmlns:r="http://schemas.openxmlformats.org/officeDocument/2006/relationships" id="266" r:id="Recb5d78b2b5948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c9a3bc58c47c4" /><Relationship Type="http://schemas.openxmlformats.org/officeDocument/2006/relationships/theme" Target="/ppt/theme/theme1.xml" Id="R39e6c50993af46b9" /><Relationship Type="http://schemas.openxmlformats.org/officeDocument/2006/relationships/notesMaster" Target="/ppt/notesMasters/notesMaster1.xml" Id="R213c58dd32e74f02" /><Relationship Type="http://schemas.openxmlformats.org/officeDocument/2006/relationships/presProps" Target="/ppt/presProps.xml" Id="R77e8baef002845c4" /><Relationship Type="http://schemas.openxmlformats.org/officeDocument/2006/relationships/viewProps" Target="/ppt/viewProps.xml" Id="Rbba4154b01c24d84" /><Relationship Type="http://schemas.openxmlformats.org/officeDocument/2006/relationships/tableStyles" Target="/ppt/tableStyles.xml" Id="Rff5e0208765d49a8" /><Relationship Type="http://schemas.openxmlformats.org/officeDocument/2006/relationships/slide" Target="/ppt/slides/slide1.xml" Id="Rd4e4a10c0dd5417e" /><Relationship Type="http://schemas.openxmlformats.org/officeDocument/2006/relationships/slide" Target="/ppt/slides/slide2.xml" Id="Rd503d858b3254483" /><Relationship Type="http://schemas.openxmlformats.org/officeDocument/2006/relationships/slide" Target="/ppt/slides/slide3.xml" Id="R7d185ad61aec4410" /><Relationship Type="http://schemas.openxmlformats.org/officeDocument/2006/relationships/slide" Target="/ppt/slides/slide4.xml" Id="Rb09e1649600a43e2" /><Relationship Type="http://schemas.openxmlformats.org/officeDocument/2006/relationships/slide" Target="/ppt/slides/slide5.xml" Id="Rf4b2ff5d30004ed3" /><Relationship Type="http://schemas.openxmlformats.org/officeDocument/2006/relationships/slide" Target="/ppt/slides/slide6.xml" Id="R94a22496ed5a443e" /><Relationship Type="http://schemas.openxmlformats.org/officeDocument/2006/relationships/slide" Target="/ppt/slides/slide7.xml" Id="R7739ad7ed70a4ace" /><Relationship Type="http://schemas.openxmlformats.org/officeDocument/2006/relationships/slide" Target="/ppt/slides/slide8.xml" Id="R6852061a3f6143ab" /><Relationship Type="http://schemas.openxmlformats.org/officeDocument/2006/relationships/slide" Target="/ppt/slides/slide9.xml" Id="R7357ffd342db40b9" /><Relationship Type="http://schemas.openxmlformats.org/officeDocument/2006/relationships/slide" Target="/ppt/slides/slide10.xml" Id="Rad5eb8080ad5419b" /><Relationship Type="http://schemas.openxmlformats.org/officeDocument/2006/relationships/slide" Target="/ppt/slides/slide11.xml" Id="Recb5d78b2b59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ddaab49e43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ec56ac0204a72" /><Relationship Type="http://schemas.openxmlformats.org/officeDocument/2006/relationships/notesMaster" Target="/ppt/notesMasters/notesMaster1.xml" Id="R383fd99a7efd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f1978f10664005" /><Relationship Type="http://schemas.openxmlformats.org/officeDocument/2006/relationships/notesMaster" Target="/ppt/notesMasters/notesMaster1.xml" Id="R5d967ab41ee0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3a2be000d34790" /><Relationship Type="http://schemas.openxmlformats.org/officeDocument/2006/relationships/notesMaster" Target="/ppt/notesMasters/notesMaster1.xml" Id="R2adb5373864549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0f7970ad248b2" /><Relationship Type="http://schemas.openxmlformats.org/officeDocument/2006/relationships/notesMaster" Target="/ppt/notesMasters/notesMaster1.xml" Id="R7e19f58a2f7e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10e4acf994139" /><Relationship Type="http://schemas.openxmlformats.org/officeDocument/2006/relationships/notesMaster" Target="/ppt/notesMasters/notesMaster1.xml" Id="R9e15edd63632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9708ac3b68457a" /><Relationship Type="http://schemas.openxmlformats.org/officeDocument/2006/relationships/notesMaster" Target="/ppt/notesMasters/notesMaster1.xml" Id="R045a0346aff14f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bbf33a846f4913" /><Relationship Type="http://schemas.openxmlformats.org/officeDocument/2006/relationships/notesMaster" Target="/ppt/notesMasters/notesMaster1.xml" Id="R9e17bd43172e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fa90506824c0c" /><Relationship Type="http://schemas.openxmlformats.org/officeDocument/2006/relationships/notesMaster" Target="/ppt/notesMasters/notesMaster1.xml" Id="R027e2f9de041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52d8c0347446da" /><Relationship Type="http://schemas.openxmlformats.org/officeDocument/2006/relationships/notesMaster" Target="/ppt/notesMasters/notesMaster1.xml" Id="Rf6922b292a2642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6b4baacfc436f" /><Relationship Type="http://schemas.openxmlformats.org/officeDocument/2006/relationships/notesMaster" Target="/ppt/notesMasters/notesMaster1.xml" Id="R6d1feac19577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e827b4bbaf4f1d" /><Relationship Type="http://schemas.openxmlformats.org/officeDocument/2006/relationships/notesMaster" Target="/ppt/notesMasters/notesMaster1.xml" Id="Rb7a082092373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bb7cb92694f1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9816fd17134d62" /><Relationship Type="http://schemas.openxmlformats.org/officeDocument/2006/relationships/slideLayout" Target="/ppt/slideLayouts/slideLayout2.xml" Id="R9593537d94c749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3537d94c749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545a569684664" /><Relationship Type="http://schemas.openxmlformats.org/officeDocument/2006/relationships/image" Target="/ppt/media/image.png" Id="R704f7c4b2ee4401e" /><Relationship Type="http://schemas.openxmlformats.org/officeDocument/2006/relationships/notesSlide" Target="/ppt/notesSlides/notesSlide1.xml" Id="Re78b5f9f24cf47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15436f7f64f66" /><Relationship Type="http://schemas.openxmlformats.org/officeDocument/2006/relationships/notesSlide" Target="/ppt/notesSlides/notesSlide2.xml" Id="R5de7a5bd035c48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7666ed04d4b40" /><Relationship Type="http://schemas.openxmlformats.org/officeDocument/2006/relationships/notesSlide" Target="/ppt/notesSlides/notesSlide3.xml" Id="Raa732dbe3d6545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39abb04c54340" /><Relationship Type="http://schemas.openxmlformats.org/officeDocument/2006/relationships/notesSlide" Target="/ppt/notesSlides/notesSlide4.xml" Id="R0fc842f83968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f06e61e14f4f94" /><Relationship Type="http://schemas.openxmlformats.org/officeDocument/2006/relationships/notesSlide" Target="/ppt/notesSlides/notesSlide5.xml" Id="R23cabb71eabd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bdcfcea574e73" /><Relationship Type="http://schemas.openxmlformats.org/officeDocument/2006/relationships/notesSlide" Target="/ppt/notesSlides/notesSlide6.xml" Id="R5787c98873f1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a11ab3aff4b8d" /><Relationship Type="http://schemas.openxmlformats.org/officeDocument/2006/relationships/notesSlide" Target="/ppt/notesSlides/notesSlide7.xml" Id="R3e1038ad9f6245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f668da638241b5" /><Relationship Type="http://schemas.openxmlformats.org/officeDocument/2006/relationships/notesSlide" Target="/ppt/notesSlides/notesSlide8.xml" Id="R2b76fff4c07f41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7f6a750ed476c" /><Relationship Type="http://schemas.openxmlformats.org/officeDocument/2006/relationships/notesSlide" Target="/ppt/notesSlides/notesSlide9.xml" Id="R06fe7e1d94f14e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1181548ab40ba" /><Relationship Type="http://schemas.openxmlformats.org/officeDocument/2006/relationships/notesSlide" Target="/ppt/notesSlides/notesSlide10.xml" Id="Ra57333c5a6194d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0d0b5966b4658" /><Relationship Type="http://schemas.openxmlformats.org/officeDocument/2006/relationships/notesSlide" Target="/ppt/notesSlides/notesSlide11.xml" Id="R377520587aa24b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5EA34-EA34-4300-BAAE-C26273F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f7c4b2ee4401e"/>
          <a:srcRect xmlns:a="http://schemas.openxmlformats.org/drawingml/2006/main" l="0" t="18841" r="0" b="18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85750"/>
            <a:ext cx="6572250" cy="6143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2023-C7B7-4A7A-9608-8422FF2C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A7D2C-E71B-49A0-B63E-81AC36E8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84065-01F9-4FF1-AAB1-01355DE0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400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4A493-08D4-4574-B793-6249128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115 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9F838-A1B7-405A-B0FD-F0F4A104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4095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新豐鄉公有空間</a:t>
            </a:r>
          </a:p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活化工作計畫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978D6-1407-46F0-A016-EB370BB6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地方創生輔導計畫後續擴充案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8CE51-FEF5-4C0F-991B-F0707BF1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758BA-1CA9-459D-B81A-827EDFC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提案重點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53FA-3734-40D3-BF39-2CFA753A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以新庄子公有市場2樓為基地，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建立空間、青年、產業與品牌的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第一階段創生運作模式。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043D7-9985-440A-A1A3-E061B4C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E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3E3E3E"/>
                </a:solidFill>
                <a:latin typeface="Times New Roman"/>
                <a:ea typeface="Times New Roman"/>
                <a:cs typeface="Times New Roman"/>
              </a:rPr>
              <a:t>HSINCHU · XINFENG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7191A-6D8C-4278-9AD0-96FF557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826483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0E0E2-1640-4C07-8460-5F03111D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FB299-04AA-4AB7-B8D0-030E84B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B665A-2E2C-4A8A-8761-393EDF5D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D21A8-B69E-49E6-A000-51D9084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04875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E033D-C040-420A-A74E-F4720826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52625"/>
            <a:ext cx="76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簡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報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大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436E2-40CB-4A7B-818B-DE2DB9E4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47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一、計畫定位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8E4CC-DA14-4896-9093-6FFAE30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二、空間活化策略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012AE-E2C9-4413-B019-D194999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三、工作項目內容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DF7B3-1F01-4F33-BBD8-C4494EF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四、執行期程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5977E-A43B-419B-AADD-3F926B5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五、預期效益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B1A73-1097-488B-967F-5849EFF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六、交付與管考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1C171-19EB-4F03-BCAB-40AD8CF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28825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0C494-2D98-4484-A8A1-1DF4E26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1. 縣府輔導能量落地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C1091-96ED-4175-8A59-99965D5D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2. 公有空間示範使用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26333-711D-4AAC-BAF1-7564CC2C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3. 青年與產業導入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455D-C187-41B8-A9AB-3A72F42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4. 品牌內容累積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C5820-61B3-47BA-9C1E-4F88140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5. 後續營運基礎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9304E-9A2D-4FC2-8AFD-73CD58CE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6472870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5A9F4-AA37-47E1-8E50-3AB1CB1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5DDE1-4101-4FD1-8AF0-FA2C21C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84AF-F3AF-41A5-B3FB-C514C3D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720CD-F2C3-4C30-93C3-564A314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92D02-1954-4F70-907C-665165B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計畫定位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568C6-5CF4-4F54-8EF3-F23D575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縣府輔導能量，落地為新豐公有空間活化子計畫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D69C8-DE0D-4C3D-A9CD-4A7CE60B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1762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5067C-E148-4CB0-A80B-0B354E27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上位計畫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64A4C-EAA2-4F9D-BCF5-EBC30FCF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52600"/>
            <a:ext cx="271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0ADA6-DF35-4379-9376-E5F3FA33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115年度新竹縣地方創生輔導案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B3183-7FC0-4ACE-A2C3-F2D71175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B1906-D245-45BA-A6DC-C3DFA303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縣府層級：建立輔導中心、訪視、會議、活動與成果報告機制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A98F-B1E1-4A0D-AA59-E09FECF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8FB48-923B-412D-BB67-A283214A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762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C086-0070-4AA1-A74E-16D84598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執行平台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9089F-B8FA-4173-A56D-8E51034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71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4E78F-DF46-4BFF-A0DF-7A8EEC1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新竹縣地方創生輔導團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96A3C-7B71-4631-92E7-457ADA32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544DD-6161-442F-AAE7-80594954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跨年度延續顧問、產業、品牌、策展與資源媒合能量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A4632-3EE1-4757-8F11-CE180DE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2A630-658F-4F65-9E94-BD6D801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762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6F8D9-10D9-4DFF-A8B6-7FE5AC2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落地子計畫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0DEE9-F136-4E53-AF1E-28E0BCE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2714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8A5BC-71DC-4F48-8FE8-9911F9BC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新豐鄉公有空間活化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EA683-E856-4D17-995E-72D8387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40979-E722-412A-842A-5263D80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以新庄子公有市場2樓為場域，啟動青年、產業與品牌示範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3AD03-4289-41F4-9C5F-3641466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後續擴充案的價值，不是重開一個新計畫，而是把既有輔導系統導入具體場域。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776AB-5BC8-4CC8-89D6-5D2E18D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03</a:t>
            </a:r>
          </a:p>
        </p:txBody>
      </p:sp>
    </p:spTree>
    <p:extLst>
      <p:ext uri="{BB962C8B-B14F-4D97-AF65-F5344CB8AC3E}">
        <p14:creationId xmlns:p14="http://schemas.microsoft.com/office/powerpoint/2010/main" val="11047453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C03EE-8A8B-4BDB-8E4F-7BBCCF1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5380D-4FD1-4381-8B0F-881CC019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0A292-3D27-4F9F-898F-60C43592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83E1F-E8A3-485F-A6B0-C7DD3BA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1193F-008A-4B72-9583-FBAC7A9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空間活化策略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8FA9D-EA01-47F9-A2EE-81D6D98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從閒置成本轉化為創生資產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7A3E3-30B3-4C33-B201-12567D68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143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68CC2-9450-44DE-BFDC-7C89423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33650"/>
            <a:ext cx="1476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低度使用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公有空間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5B2CB-2694-4D5D-8F33-E07E0B5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2667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3C4C1-C975-44C0-BAEF-9D42D1B6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71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空間作為介面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C4A0E-C4C9-48BB-8EF6-AB76182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43150"/>
            <a:ext cx="1809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B6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290A-99CD-4783-8801-988528B7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青年進駐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A88A6-7559-4D12-A720-23CFC18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0350"/>
            <a:ext cx="1809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B6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D15BC-437E-4810-8D75-790BFF6B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產業導入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FAB3F-28FC-4F31-A35F-E28B64D6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57550"/>
            <a:ext cx="1809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B6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EB41C-DCBF-4DA0-8349-D382E36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社群聚集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2B0C3-CBCF-4279-A7B4-431AF735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809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B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4F069-791E-425F-B660-C932BE1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品牌形成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34154-05E3-47FE-9520-186048B9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19050">
            <a:solidFill>
              <a:srgbClr val="F4A2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EDAAA-4095-40D5-8476-C291886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地方創生</a:t>
            </a:r>
          </a:p>
          <a:p xmlns:a="http://schemas.openxmlformats.org/drawingml/2006/main">
            <a:pPr algn="ctr">
              <a:defRPr sz="22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營運基地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D83CF-A5E1-43DC-99DB-6B8F1C3F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194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93845-FECB-4FD0-A6A0-00F13E0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194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877B2-0A6B-4F50-BB75-5A131C5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815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新庄子公有市場2樓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5C921-C3ED-47EE-A96F-E33C595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007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本案以「空間」承接人流、產業、文化與治理，讓活動成果能累積為後續營運素材。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7E481-4A45-4B1C-A819-00F174D4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04</a:t>
            </a:r>
          </a:p>
        </p:txBody>
      </p:sp>
    </p:spTree>
    <p:extLst>
      <p:ext uri="{BB962C8B-B14F-4D97-AF65-F5344CB8AC3E}">
        <p14:creationId xmlns:p14="http://schemas.microsoft.com/office/powerpoint/2010/main" val="12360128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D7460-FDE2-4F43-8AE0-2DDB63C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E6E8E-65D7-44C3-AC3A-0E2841E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81543-4A3E-47CF-9000-C375EE7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2F1D4-2E4D-4D2F-A0A9-9CEBBAEC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B070-3DF3-49CC-AD5C-726E557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計畫目標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F2852-BD17-4DC7-89A3-25EC09A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五大策略把地方創生轉成可執行的空間營運任務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D31EF-86EF-45D1-91B2-BDD6450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1AC7A-9A8A-4857-ADBB-B32B779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37951-7F40-4786-92DF-570BC8DC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青年進駐與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地方人才培力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5E023-7333-4072-AABC-24FEA07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吸引青年團隊參與，從進駐者培養為地方經營者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3A6CE-F0E0-423A-A0E9-9C9B4F44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B6392-9861-4623-BFE4-E59A48A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15003-267C-4456-A0DB-1661E6E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526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空間營運與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系統建構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F6478-EB88-4AFD-A875-A5502BE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建立品牌、動線、營運模式與數位資料基礎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48037-E52C-4470-AFF6-679D5E01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C8695-1FFE-4C9C-9C5C-E2074CF9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7B6D8-93BB-4379-B32F-4BE96437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526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在地產業導入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與商品開發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D41F6-7B0F-4B4F-B5BC-DB49029B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讓地方產品進入展示、銷售與體驗情境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06906-474B-48CA-83B0-24AA4526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68D2A-93F2-4F96-B2D4-40E35596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04C3A-41C3-491C-8A13-4089369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526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社群連結與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公共參與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42788-7022-4132-97B4-2818FDA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串聯居民、青年、組織與遊客，形成共創治理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A9781-BBDB-4D16-8AAA-E71671E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B7DA2-C54B-465B-B067-FEC762D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5240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E7798-8985-4BA1-882B-A387C37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場域再造與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品牌意象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4E592A-751F-476B-872F-86117BB1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以空間美學與文化敘事提升新豐辨識度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81FFF-8D93-428A-9852-AB58D78A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7F242-9A05-422A-9185-AAE224BA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244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核心循環：空間活化 → 青年進駐 → 產業導入 → 社群聚集 → 品牌形成 → 空間價值提升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096B9-7DF0-4EC1-9E61-1B8626F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19653657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997F3-9BE2-4FB4-8AAC-38D0A3A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D3313-2CA6-4B2D-BA05-CF674BB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E15C3-A8B4-4056-B96F-6EE6275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B2BB2-2963-49C8-B124-CF552D5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A3682-9D11-4051-8AD2-FFCFD409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工作項目內容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DE04F-9F1C-4D70-97E5-23747CC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第一階段以品牌、輔導、培力與策展建立活化基礎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E29DD-9D3E-47B1-8744-19F29DE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4CCB9-EEAF-4A7E-B591-2C2482B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81200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BECD6-7184-4EDE-86BD-B6F329C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數位行銷與品牌經營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F8BA7-0E96-4CF2-A63B-6C4CF925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CB04-1A57-44A3-A27E-EB65206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3219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官方FB經營、每月至少1則貼文，累積人物、產業、空間進度與文化轉譯內容。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65D35-8443-4139-B909-32383EF0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46465-357B-46EF-A30F-B20214C3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93250-CC15-4E94-A865-5378D8DE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478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專業輔導與顧問機制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4AF38-6C3F-4C81-9DF3-CF953223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ED181-C159-4F02-BE8F-9AEE6AD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52700"/>
            <a:ext cx="3219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至少3場次，依品牌定位、產品優化、通路拓展、空間營運需求導入顧問。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C591B-7E34-480C-84AC-1B3275D7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05519-C7B0-4085-948A-670C26D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290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632C2-17A6-4D8B-BD6C-E4720D9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人才培育與課程工作坊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F6C88-E291-4844-AF16-43D516F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4B15D-39C3-4444-9D1E-DDAA32B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3219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至少1場、20人以上，培養地方創生、社群行銷、體驗設計與空間營運能力。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387AF-AB75-4EA4-9A93-437E8EB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88D58-AA03-4150-8849-284E73F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290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2A726-E21E-4579-AFFC-1081BD4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地方創生故事展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F15C3-582E-4D8D-9BD7-453F1D70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0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27B31-3B05-4F4D-9E25-9F5EFD42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00575"/>
            <a:ext cx="32194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辦理1場，以在地職人、產業、歷史、青年返鄉與未來願景進行文化策展。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17FC5-307B-4AAB-B546-E98CED3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13062745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CCDB2-B605-499C-A534-1F146EE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336C9-7518-4D06-8DAA-782B561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572B7-F311-4783-A67C-D6C9F57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346A4-D71F-4828-8564-78B9F207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A714-35AF-44F0-B07D-B1A31B1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執行期程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6502-A9B6-4A01-8218-EECAA8D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115年6月至12月，以全期行銷與成果管考串接各項任務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B3FBE-B906-4678-A147-D4A68977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DC390-E1C4-48D5-AFBA-0843C4D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6月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41503-C84B-4801-9986-0204DC6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6A191-BC1C-45C3-B144-292CCF2E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7月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19E47-69D8-4275-AE85-FB3EADF5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E8F21-BA62-4CB9-8723-C57FD193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8月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2B3B7-65C7-429A-8AB9-6557DEE3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A104A-5AA0-4672-B281-02AC30B9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9月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B82D7-0997-42B4-9430-BF6F81E1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18EC3-A2FD-472C-88F1-4634F6C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10月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BFE67-B3B9-4402-AA99-070F303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8E747-6337-4467-A50F-97BA9595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11月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B5EBA-B8F3-4D0F-8E8C-7FB0C81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B2EF2-4E82-4755-B97A-8CFEA63A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12月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16FBB-4479-4D5D-9DE6-8BDF77B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FAC9E-C1F3-47D1-9AAF-345C5D20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數位行銷與品牌經營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3EEA5-7BB5-4513-AEF6-F2C481E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DCD33-B7ED-4D79-8F84-8917888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69985-3440-4E49-8B2C-3B14FDC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198EA-78E3-4B52-BB51-22DC095C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1BD53-D271-4580-8D58-FDC649B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353C4-944E-4975-8D36-7C3BB66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C51E7-025B-4B61-B81E-1521A81C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5B0CA-5566-443A-8E29-985FC2E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684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D2476-CFEB-4E95-A77A-10F9C07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384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ED2BE-BCDA-440A-BCAE-E365B543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專業輔導與顧問機制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D4E82-1EC9-4B75-891F-80D1D8E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597DA9-25F5-40EB-B4E4-A1FE725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8FD74-20E0-4D58-AB34-8B32684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02C4D-E55B-4CC7-A0BC-97ADD14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8BDC8-435E-4FB3-8C7C-A47AAC20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17A29-ABEC-4475-80AF-AAAF065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2F20DA-6E4C-4AF6-A6F6-A10D134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71DD5-EC1F-4203-BF79-01F8487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337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DEC8EC-7725-4BEE-956C-31679F5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861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2AC24-C085-4EF1-B605-EAD12C0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人才培育與課程工作坊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26E98-B4C8-4A45-9052-FE63F4A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A11904-9BAF-4EE1-95C3-DBE48CE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6333CC-0C95-4F63-9363-36302E2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DC2E91-E4F2-48FE-8497-6FE2E4D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0780E8-D595-4962-8AA1-4CF75F3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8E8D09-7A2A-46FB-9833-78EC432C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247C3F-247C-4257-A687-DCACF7A7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717587-CB06-4730-83F7-8204E1F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2847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347B1E-C854-4F50-9311-4B200C01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C594F8-292E-411F-982A-E1D7E66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地方創生故事展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B9A15D-53BB-4BCB-AE59-9843DF2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F30C35-B18A-41B1-80B5-9232B84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725650-6B22-4AAE-9C9D-C2AB6A6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0240DD-54D2-4646-AB97-F9824716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33882B-F96F-4168-A495-8834964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4CA329-20F2-4F47-9BD1-AC980D0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6D4FAD-B5B0-47A2-A64E-666AE867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338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A0107E-358A-43AC-AC67-B6B03A9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2847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EFC2AE-CA4A-4FA0-B9DA-776E297C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E437E3-1243-4F9F-A2EA-68B9598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計畫執行管理與成果結案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D7542A-8D91-4F35-B458-C3E0A509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BEFB17-7245-431B-8EFD-93D72AC7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C1E731-8616-49FD-8836-7965D4D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B2E606-F8C9-47AB-B7B2-347EA55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F23668-EA5D-4E3B-B74A-C9D88A0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426936-3A1F-4835-A797-275DA560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ACDF47-C802-43E6-9CA3-D476F49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317437-A3A7-4502-9168-7B80240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6848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118B84-4AFD-45B6-B3A4-91687AFA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53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說明：深色區塊為主要執行月份；全期性項目負責持續累積素材、追蹤成果與支援結案報告。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59C0A5-94E4-4EF0-8D92-6B58E8BC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13373903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3AA2D-3EE8-4E60-8C11-9B85394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92D9-83C5-4890-BDAB-058C88A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5D8DE-2EAB-4441-899A-CB614676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DBBCE-0FB9-43E0-AC2F-247B6AD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E014A-7B06-4FCA-95DC-11B0B5C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輔導與人才培力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ED5A-268B-4ABD-9DFF-03E4FDF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把外部顧問資源轉成地方可執行能力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9C65-42B8-4C57-9699-F5828F0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81050-24AE-42F2-AF2F-2C33775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顧問診斷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AD766-025F-4F45-A7DC-EDF1F5C2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品牌、產品、通路、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空間營運與市場策略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B9B55-44BD-48E3-8FAB-BDDA20BD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19050">
            <a:solidFill>
              <a:srgbClr val="F4A2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5B3AB-ADD3-4F4E-92AA-88EDA69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09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陪伴輔導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AD2EB-8A54-4DF9-B172-BBA2905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1937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一對一＋小組共學，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至少3場次以上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B3CFB-5531-4EB9-988F-4DE54D2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D8611-52A3-40F5-8896-8D1A6A1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9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實作轉化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165B4-EB77-4DFB-BC5C-433709F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工作坊至少1場，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20人次以上參與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F8766-457A-4BE0-8922-F65C0BBC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48703-7AF8-41E0-B120-F97B715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71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D1EAF-3DE5-4E20-9AA3-E36DC9FF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36E67-D98B-4914-B058-B733AE9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AE857-8982-4CF5-B2BC-8F0AE3C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817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優先邀請在地青年、返鄉創業者與社區組織，建立地方創生種子人才池。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2D9AE-EF20-4B1A-9C50-9623AF8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85434-AB8B-49C6-9E47-C6B512C5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86300"/>
            <a:ext cx="817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課程成果銜接後續空間活化與活動策展，使培力不只停留在教室。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4C348-A615-4E8B-B273-4CB727BD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302024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9A114-BEC7-44D7-A064-99DC530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0D6EE-F406-43E8-9B7D-C104D84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F0EC9-F877-42BA-94D9-0D5DA07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03CD1-FBDC-4984-BCA7-44E86E51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82D16-1FA3-4F88-96B1-1B7ACC42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故事展與品牌內容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0C2D1-FD3D-47B8-BC78-51A8FD7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展覽是空間活化示範，也是後續數位行銷素材庫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2A551-39C2-4763-B090-5E47263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3AD9A-E332-4940-BAA2-3BF391A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33625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盤點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75B92-369C-4260-BEE6-934DFBCA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在地職人、產業、歷史文化、青年返鄉案例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5328C-3A82-422D-9D93-5E746A00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81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6AA4C-7900-4E0B-9BD5-75F3C81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DD2C3-4642-48AB-98A9-D708E57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策展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FBD64-2738-4BAF-9843-9BE632BA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平面展示、影像紀錄、互動裝置、導覽解說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6A77E-A9C5-474A-894E-09BEC5FD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81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6F68D-06E4-46FD-9C51-0380C2F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A035A-1458-4C4E-B759-1DEE1444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轉譯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A6F89-4436-4CEA-A4FA-8519A48A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社群圖文、短影音、線上展覽與品牌故事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AAEAA-B70D-4E0D-BF84-1F72B73E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81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24D69-AB7D-4F8E-B5B0-64AC932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14288">
            <a:solidFill>
              <a:srgbClr val="98B6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FF242-F2D5-4D6D-AE6A-51DC715A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擴散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701B6-DB46-4A2C-AC9C-876899DE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帶動空間人流，累積招商與營運溝通素材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0FEBA-21AE-4F17-B105-3E9AF2A7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EDD76-2217-4700-A1E2-3B7FC94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43425"/>
            <a:ext cx="847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關鍵判準：故事展不只完成一場活動，而要讓新豐地方品牌被看見、被記錄、可再使用。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83099-F3A4-4304-A4F7-4BE8BB4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5137956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825BE-8928-4B1B-8022-6607819D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5088D-E4A2-4EDB-85AC-48769235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79B17-CB1F-41D3-A1EC-4310A338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64106-8407-40BC-9ACF-5DAAE09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25428-D3E4-4E7B-8D8C-2AECE593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預期效益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976B8-3B9F-4180-8788-5C910DD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KPI分為青年、輔導、品牌、產業、策展與空間制度六類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3B7BC-8067-4959-92CC-AE2A1B7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D0D8F-C8E1-4548-9997-848A557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面向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6F781-3FDF-4C21-A06F-BA72E74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B3C43-6BAE-4A08-AC5F-251FAFD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9545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最低成果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6DE6E-FE23-4E71-ADE8-60CA48E7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6192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558F5-FE00-47C7-9B34-C2DB8CA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評估重點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74990-ED7D-4305-BA65-CA7C8DD1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819EF-19B0-49F4-81CC-3E7A0B9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847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後續用途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F42F-10A6-46AB-ACEC-439F8E6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E7F0A-4EC9-4B2C-8908-C1C5C50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青年人才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77DDC-5FF0-4D7F-9F2B-13B3970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193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AD4AC-8177-4E75-9878-840932F7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培育3人以上</a:t>
            </a:r>
          </a:p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媒合1組進駐意願團隊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40806-C3FF-412D-A2AB-0B51B270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193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DEC73-28BE-4B04-8776-A1C6A74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參與意願、可營運能力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D588A-D130-4499-99C8-E922785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8FA37-A0B8-4AC9-B5CF-AE148F2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進駐機制與人才池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EACBB-A5B3-44C3-AE33-5D676FFC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918CC-958D-4073-AA1E-87D4A81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專業輔導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4D416-F99D-499F-9056-24F83AEE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3F28C-C44D-422D-952A-F7017A2E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顧問諮詢3場以上</a:t>
            </a:r>
          </a:p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團隊診斷5案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4C2AA-DB60-41B2-83FD-0308A14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051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54A34C-E3AC-401C-A447-B914A36F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問題診斷與建議可執行性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36A2A-8558-42C4-94F1-60A6A02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B975D-730A-4A8D-B891-DF97FF9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後續陪伴與輔導模型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F6F977-D045-48A4-A431-3395132E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A18B7-834B-4976-A112-69CBF7E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品牌曝光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091D3-286D-444E-961F-7D01973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909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B8FBC-24F1-47A7-8EA1-F17BD43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社群貼文7篇以上</a:t>
            </a:r>
          </a:p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數位內容4則以上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A67A8-E2C5-4A33-801F-27808D4F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3909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55E9D-37B6-4F4F-8FF3-83C39FAD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671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觸及率、互動率、素材完整度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D32216-7681-4821-A006-285F44D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7C5062-519B-44D3-B55E-91B33707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新豐品牌內容資料庫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265C2A-671D-4476-B4C5-C3A49AF9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869CE9-E0F1-4DF2-A7DC-8A18EBCE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文化策展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6455C4-8BC1-42D7-98EE-B82131A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1E66F8-1313-45EE-8000-F937DC6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故事展1場</a:t>
            </a:r>
          </a:p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參與100人以上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3EC312-A1FA-45BF-857B-4667926F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0767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93144F-3C53-4864-B9DB-C571B6D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529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人流、導覽、轉化內容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1A3582-BB27-4479-AE18-48FAEB1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767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206A03-C3DB-49B6-A3D0-67989E0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空間示範與地方認同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6E589D-3329-4679-A359-F0AA9FC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4ACACA-8055-42EF-B9A4-94D5AD9F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37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空間制度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D691F1-F4F3-41F7-839F-ECA502F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38D797-41FF-4367-A475-06D3665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387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示範使用1處</a:t>
            </a:r>
          </a:p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營運管理制度1套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66EC3E-B12C-4FD4-A85C-3C1A3353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625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C7D6B6-B7D2-4D9C-878D-F577DBF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387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使用頻率、管理規則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4F2EB-5302-479A-84F5-7E804A4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300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EF2B29-A11D-4E4F-AA23-F40D529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847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招商、營運與結案報告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32DEA8-C0EE-46C0-81A7-4CACADA8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67375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量化成果用來驗收，質化成果用來支撐後續營運、政策擴散與地方品牌累積。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EEDA3C-A6CB-4BCD-8D44-67896F29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814171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1A7099-364D-45C2-81C6-387EDD1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06FCD-E794-4FE5-9145-9077C82C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2C24-1804-4E6D-9BA2-19F92ED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7F24D-D75C-45CF-8678-6AB41DF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33350"/>
            <a:ext cx="342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CE210-6F3A-4D11-B2A3-14C3B818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交付與管考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26F56-F192-4A3C-AAC0-CE70F81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以交付品支持後續招商、營運與政策擴散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94586-0F63-488E-BA57-CB14DD9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6E530-A520-4C45-A07B-54A4840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53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F1CA8-EB64-496C-83FB-328F8C9B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內容資料庫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9387-E63B-4F01-B20B-7ACCE181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419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影像、人物故事、職人紀錄、地方文化資料與社群素材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A2122-7EB0-425F-BBF3-D380C1F6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6"/>
          </a:solidFill>
          <a:ln xmlns:a="http://schemas.openxmlformats.org/drawingml/2006/main" w="19050">
            <a:solidFill>
              <a:srgbClr val="F4A2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415A4-C7DF-4B7A-BDDC-4EBB5D1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752600"/>
            <a:ext cx="53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49515-65D6-47BE-9A38-6065572D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81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營運管理制度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85B4F-FE23-4CA0-87A3-CC0F251B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90850"/>
            <a:ext cx="2419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青年進駐機制、空間使用規範、活動與展示管理方式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4986A-880C-4224-96E7-AF6CEA21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2"/>
          </a:solidFill>
          <a:ln xmlns:a="http://schemas.openxmlformats.org/drawingml/2006/main" w="19050">
            <a:solidFill>
              <a:srgbClr val="98B6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64231-5A6E-4E59-B528-FF8A0D4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53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4D6721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9D6EE-43A5-486E-82C3-6C63B6D6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成果報告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8C5B3-B82E-487A-8587-DCBBEF5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2419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活動成果、KPI、輔導紀錄、效益分析與後續建議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71399-D605-4EA1-A749-A9EF90C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32B6A-22BB-4144-BE93-E81D7A84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53025"/>
            <a:ext cx="842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收束方向：讓新豐鄉取得一套可展示、可營運、可延伸申請資源的地方創生操作基礎。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B684D-29DF-4045-847C-F0C78AC8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600" b="0">
                <a:solidFill>
                  <a:srgbClr val="6B7280"/>
                </a:solidFill>
                <a:latin typeface="Noto Sans TC"/>
                <a:ea typeface="Noto Sans TC"/>
                <a:cs typeface="Noto Sans TC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445987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2026-05-18T00:01:01.3580000Z</dcterms:created>
  <dcterms:modified xsi:type="dcterms:W3CDTF">2026-05-18T00:01:01.3580000Z</dcterms:modified>
</coreProperties>
</file>